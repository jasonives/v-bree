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8DDD59-5679-4A45-8C0D-E3B2FB64B83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229820D-742C-4E54-84A3-2C139A1CF642}">
      <dgm:prSet/>
      <dgm:spPr/>
      <dgm:t>
        <a:bodyPr/>
        <a:lstStyle/>
        <a:p>
          <a:r>
            <a:rPr lang="en-US"/>
            <a:t>Public benchmark with 12,000+ MCQs.</a:t>
          </a:r>
        </a:p>
      </dgm:t>
    </dgm:pt>
    <dgm:pt modelId="{26B3D1AE-1A52-47A9-9F3D-C0E409E53F3B}" type="parTrans" cxnId="{CCAC9D0E-2FEB-4BF8-94AB-374A44D4590F}">
      <dgm:prSet/>
      <dgm:spPr/>
      <dgm:t>
        <a:bodyPr/>
        <a:lstStyle/>
        <a:p>
          <a:endParaRPr lang="en-US"/>
        </a:p>
      </dgm:t>
    </dgm:pt>
    <dgm:pt modelId="{C71D28DF-D4A8-4F1C-B96A-211716E3F895}" type="sibTrans" cxnId="{CCAC9D0E-2FEB-4BF8-94AB-374A44D4590F}">
      <dgm:prSet/>
      <dgm:spPr/>
      <dgm:t>
        <a:bodyPr/>
        <a:lstStyle/>
        <a:p>
          <a:endParaRPr lang="en-US"/>
        </a:p>
      </dgm:t>
    </dgm:pt>
    <dgm:pt modelId="{D86027BE-74BD-4222-B970-211F7FE9E2A3}">
      <dgm:prSet/>
      <dgm:spPr/>
      <dgm:t>
        <a:bodyPr/>
        <a:lstStyle/>
        <a:p>
          <a:r>
            <a:rPr lang="en-US"/>
            <a:t>Covers 14 domains (Law, Physics, Chemistry, Math, etc.)</a:t>
          </a:r>
        </a:p>
      </dgm:t>
    </dgm:pt>
    <dgm:pt modelId="{3FA9D981-2EC0-4D32-A418-E72EDF6708A0}" type="parTrans" cxnId="{4EE4D701-6BFB-42AE-90B7-708D04F72D4B}">
      <dgm:prSet/>
      <dgm:spPr/>
      <dgm:t>
        <a:bodyPr/>
        <a:lstStyle/>
        <a:p>
          <a:endParaRPr lang="en-US"/>
        </a:p>
      </dgm:t>
    </dgm:pt>
    <dgm:pt modelId="{B6B26913-4A11-4815-9961-6C66DA529EE9}" type="sibTrans" cxnId="{4EE4D701-6BFB-42AE-90B7-708D04F72D4B}">
      <dgm:prSet/>
      <dgm:spPr/>
      <dgm:t>
        <a:bodyPr/>
        <a:lstStyle/>
        <a:p>
          <a:endParaRPr lang="en-US"/>
        </a:p>
      </dgm:t>
    </dgm:pt>
    <dgm:pt modelId="{BE46C401-5E75-4079-860D-252452E97EC1}">
      <dgm:prSet/>
      <dgm:spPr/>
      <dgm:t>
        <a:bodyPr/>
        <a:lstStyle/>
        <a:p>
          <a:r>
            <a:rPr lang="en-US"/>
            <a:t>Each question has a curated gold answer.</a:t>
          </a:r>
        </a:p>
      </dgm:t>
    </dgm:pt>
    <dgm:pt modelId="{0D87D035-61B2-4D13-87D4-47925C46468E}" type="parTrans" cxnId="{ECCED556-CC2F-4C79-A904-A95EE6F0CBED}">
      <dgm:prSet/>
      <dgm:spPr/>
      <dgm:t>
        <a:bodyPr/>
        <a:lstStyle/>
        <a:p>
          <a:endParaRPr lang="en-US"/>
        </a:p>
      </dgm:t>
    </dgm:pt>
    <dgm:pt modelId="{94924C0E-C2FB-4C0D-88F1-297868DF5D1F}" type="sibTrans" cxnId="{ECCED556-CC2F-4C79-A904-A95EE6F0CBED}">
      <dgm:prSet/>
      <dgm:spPr/>
      <dgm:t>
        <a:bodyPr/>
        <a:lstStyle/>
        <a:p>
          <a:endParaRPr lang="en-US"/>
        </a:p>
      </dgm:t>
    </dgm:pt>
    <dgm:pt modelId="{BF0A587A-34BD-4602-9560-624CEB21AA9A}">
      <dgm:prSet/>
      <dgm:spPr/>
      <dgm:t>
        <a:bodyPr/>
        <a:lstStyle/>
        <a:p>
          <a:r>
            <a:rPr lang="en-US"/>
            <a:t>10 answer options per question (vs 4 in MMLU) → much lower random-guess accuracy</a:t>
          </a:r>
        </a:p>
      </dgm:t>
    </dgm:pt>
    <dgm:pt modelId="{2BD7647B-1393-401F-8365-D4F15E784803}" type="parTrans" cxnId="{E792DDBD-3892-4814-A1A4-0FB8BCC5F1CC}">
      <dgm:prSet/>
      <dgm:spPr/>
      <dgm:t>
        <a:bodyPr/>
        <a:lstStyle/>
        <a:p>
          <a:endParaRPr lang="en-US"/>
        </a:p>
      </dgm:t>
    </dgm:pt>
    <dgm:pt modelId="{E05511AE-2761-4778-B1E2-A7D69F78D3E4}" type="sibTrans" cxnId="{E792DDBD-3892-4814-A1A4-0FB8BCC5F1CC}">
      <dgm:prSet/>
      <dgm:spPr/>
      <dgm:t>
        <a:bodyPr/>
        <a:lstStyle/>
        <a:p>
          <a:endParaRPr lang="en-US"/>
        </a:p>
      </dgm:t>
    </dgm:pt>
    <dgm:pt modelId="{0872DB15-71C0-4214-B981-5E9DD8012900}">
      <dgm:prSet/>
      <dgm:spPr/>
      <dgm:t>
        <a:bodyPr/>
        <a:lstStyle/>
        <a:p>
          <a:r>
            <a:rPr lang="en-US"/>
            <a:t>Designed to evaluate LLM reasoning, not just knowledge recall.</a:t>
          </a:r>
        </a:p>
      </dgm:t>
    </dgm:pt>
    <dgm:pt modelId="{30C1CF9C-CF74-4330-B244-C42F3B07C3B8}" type="parTrans" cxnId="{07DE588C-DC2B-4BFC-A128-8A73B3672292}">
      <dgm:prSet/>
      <dgm:spPr/>
      <dgm:t>
        <a:bodyPr/>
        <a:lstStyle/>
        <a:p>
          <a:endParaRPr lang="en-US"/>
        </a:p>
      </dgm:t>
    </dgm:pt>
    <dgm:pt modelId="{2C60F340-A719-4FB1-A84F-1BEE23A49E1A}" type="sibTrans" cxnId="{07DE588C-DC2B-4BFC-A128-8A73B3672292}">
      <dgm:prSet/>
      <dgm:spPr/>
      <dgm:t>
        <a:bodyPr/>
        <a:lstStyle/>
        <a:p>
          <a:endParaRPr lang="en-US"/>
        </a:p>
      </dgm:t>
    </dgm:pt>
    <dgm:pt modelId="{995BFD75-96D9-4610-A295-EE5A16EBD47E}">
      <dgm:prSet/>
      <dgm:spPr/>
      <dgm:t>
        <a:bodyPr/>
        <a:lstStyle/>
        <a:p>
          <a:r>
            <a:rPr lang="en-US"/>
            <a:t>robust to prompt variation and guessing.</a:t>
          </a:r>
        </a:p>
      </dgm:t>
    </dgm:pt>
    <dgm:pt modelId="{F26BA424-024D-41D1-A282-F19EE2C5C64A}" type="parTrans" cxnId="{10A396F7-B9AA-4DF0-A496-F98D5A6C3A2E}">
      <dgm:prSet/>
      <dgm:spPr/>
      <dgm:t>
        <a:bodyPr/>
        <a:lstStyle/>
        <a:p>
          <a:endParaRPr lang="en-US"/>
        </a:p>
      </dgm:t>
    </dgm:pt>
    <dgm:pt modelId="{2F1D75CC-D0B0-4B58-A7BC-9D1FE29CE020}" type="sibTrans" cxnId="{10A396F7-B9AA-4DF0-A496-F98D5A6C3A2E}">
      <dgm:prSet/>
      <dgm:spPr/>
      <dgm:t>
        <a:bodyPr/>
        <a:lstStyle/>
        <a:p>
          <a:endParaRPr lang="en-US"/>
        </a:p>
      </dgm:t>
    </dgm:pt>
    <dgm:pt modelId="{88228B2D-9EB6-4741-B8E9-BCE97E42C14E}">
      <dgm:prSet/>
      <dgm:spPr/>
      <dgm:t>
        <a:bodyPr/>
        <a:lstStyle/>
        <a:p>
          <a:r>
            <a:rPr lang="en-US"/>
            <a:t>Used in ICE - enables direct performance comparison.</a:t>
          </a:r>
        </a:p>
      </dgm:t>
    </dgm:pt>
    <dgm:pt modelId="{0FC8CEAC-30F1-4D85-95B1-657E6CEADF78}" type="parTrans" cxnId="{65A710F4-7C45-45FE-9D5E-278EB2A417A4}">
      <dgm:prSet/>
      <dgm:spPr/>
      <dgm:t>
        <a:bodyPr/>
        <a:lstStyle/>
        <a:p>
          <a:endParaRPr lang="en-US"/>
        </a:p>
      </dgm:t>
    </dgm:pt>
    <dgm:pt modelId="{96A4014A-BD20-45CB-A2B2-F3390D4B109D}" type="sibTrans" cxnId="{65A710F4-7C45-45FE-9D5E-278EB2A417A4}">
      <dgm:prSet/>
      <dgm:spPr/>
      <dgm:t>
        <a:bodyPr/>
        <a:lstStyle/>
        <a:p>
          <a:endParaRPr lang="en-US"/>
        </a:p>
      </dgm:t>
    </dgm:pt>
    <dgm:pt modelId="{47B4B405-4903-4C8E-9186-1F1CCE8C2FC1}" type="pres">
      <dgm:prSet presAssocID="{C08DDD59-5679-4A45-8C0D-E3B2FB64B839}" presName="linear" presStyleCnt="0">
        <dgm:presLayoutVars>
          <dgm:animLvl val="lvl"/>
          <dgm:resizeHandles val="exact"/>
        </dgm:presLayoutVars>
      </dgm:prSet>
      <dgm:spPr/>
    </dgm:pt>
    <dgm:pt modelId="{E66EE94C-4BE1-4A77-95E0-A04B61333C39}" type="pres">
      <dgm:prSet presAssocID="{2229820D-742C-4E54-84A3-2C139A1CF642}" presName="parentText" presStyleLbl="node1" presStyleIdx="0" presStyleCnt="7">
        <dgm:presLayoutVars>
          <dgm:chMax val="0"/>
          <dgm:bulletEnabled val="1"/>
        </dgm:presLayoutVars>
      </dgm:prSet>
      <dgm:spPr/>
    </dgm:pt>
    <dgm:pt modelId="{2CEC2913-EEA5-4B4B-8CE4-5639A7E77C4D}" type="pres">
      <dgm:prSet presAssocID="{C71D28DF-D4A8-4F1C-B96A-211716E3F895}" presName="spacer" presStyleCnt="0"/>
      <dgm:spPr/>
    </dgm:pt>
    <dgm:pt modelId="{F7263064-3322-491C-AE1B-8DC288C427CA}" type="pres">
      <dgm:prSet presAssocID="{D86027BE-74BD-4222-B970-211F7FE9E2A3}" presName="parentText" presStyleLbl="node1" presStyleIdx="1" presStyleCnt="7">
        <dgm:presLayoutVars>
          <dgm:chMax val="0"/>
          <dgm:bulletEnabled val="1"/>
        </dgm:presLayoutVars>
      </dgm:prSet>
      <dgm:spPr/>
    </dgm:pt>
    <dgm:pt modelId="{1DBB4BFA-C0C6-4C09-96C6-6F089E3BCBC1}" type="pres">
      <dgm:prSet presAssocID="{B6B26913-4A11-4815-9961-6C66DA529EE9}" presName="spacer" presStyleCnt="0"/>
      <dgm:spPr/>
    </dgm:pt>
    <dgm:pt modelId="{BD5262CE-9DA6-4223-8BB4-F791544DBA52}" type="pres">
      <dgm:prSet presAssocID="{BE46C401-5E75-4079-860D-252452E97EC1}" presName="parentText" presStyleLbl="node1" presStyleIdx="2" presStyleCnt="7">
        <dgm:presLayoutVars>
          <dgm:chMax val="0"/>
          <dgm:bulletEnabled val="1"/>
        </dgm:presLayoutVars>
      </dgm:prSet>
      <dgm:spPr/>
    </dgm:pt>
    <dgm:pt modelId="{96FC6351-10E9-4A4C-8E7F-804D2DD4CCC0}" type="pres">
      <dgm:prSet presAssocID="{94924C0E-C2FB-4C0D-88F1-297868DF5D1F}" presName="spacer" presStyleCnt="0"/>
      <dgm:spPr/>
    </dgm:pt>
    <dgm:pt modelId="{9C4C67C1-AB13-4972-AFBB-CC0DD55AF709}" type="pres">
      <dgm:prSet presAssocID="{BF0A587A-34BD-4602-9560-624CEB21AA9A}" presName="parentText" presStyleLbl="node1" presStyleIdx="3" presStyleCnt="7">
        <dgm:presLayoutVars>
          <dgm:chMax val="0"/>
          <dgm:bulletEnabled val="1"/>
        </dgm:presLayoutVars>
      </dgm:prSet>
      <dgm:spPr/>
    </dgm:pt>
    <dgm:pt modelId="{B6306088-CCA7-403A-8D37-A84A7352E1B0}" type="pres">
      <dgm:prSet presAssocID="{E05511AE-2761-4778-B1E2-A7D69F78D3E4}" presName="spacer" presStyleCnt="0"/>
      <dgm:spPr/>
    </dgm:pt>
    <dgm:pt modelId="{FAEB7B86-B715-4A96-81D6-086E49A6B661}" type="pres">
      <dgm:prSet presAssocID="{0872DB15-71C0-4214-B981-5E9DD8012900}" presName="parentText" presStyleLbl="node1" presStyleIdx="4" presStyleCnt="7">
        <dgm:presLayoutVars>
          <dgm:chMax val="0"/>
          <dgm:bulletEnabled val="1"/>
        </dgm:presLayoutVars>
      </dgm:prSet>
      <dgm:spPr/>
    </dgm:pt>
    <dgm:pt modelId="{112C3C76-3814-4C5F-948B-B6F040F49C8E}" type="pres">
      <dgm:prSet presAssocID="{2C60F340-A719-4FB1-A84F-1BEE23A49E1A}" presName="spacer" presStyleCnt="0"/>
      <dgm:spPr/>
    </dgm:pt>
    <dgm:pt modelId="{7A11DDCE-BADA-4479-9AF1-9634A4395A92}" type="pres">
      <dgm:prSet presAssocID="{995BFD75-96D9-4610-A295-EE5A16EBD47E}" presName="parentText" presStyleLbl="node1" presStyleIdx="5" presStyleCnt="7">
        <dgm:presLayoutVars>
          <dgm:chMax val="0"/>
          <dgm:bulletEnabled val="1"/>
        </dgm:presLayoutVars>
      </dgm:prSet>
      <dgm:spPr/>
    </dgm:pt>
    <dgm:pt modelId="{A0D3C10A-9750-4FE3-B4A7-739D0372A9BF}" type="pres">
      <dgm:prSet presAssocID="{2F1D75CC-D0B0-4B58-A7BC-9D1FE29CE020}" presName="spacer" presStyleCnt="0"/>
      <dgm:spPr/>
    </dgm:pt>
    <dgm:pt modelId="{9E60FC7A-4A57-435A-B8F5-7BFB037320DA}" type="pres">
      <dgm:prSet presAssocID="{88228B2D-9EB6-4741-B8E9-BCE97E42C14E}" presName="parentText" presStyleLbl="node1" presStyleIdx="6" presStyleCnt="7">
        <dgm:presLayoutVars>
          <dgm:chMax val="0"/>
          <dgm:bulletEnabled val="1"/>
        </dgm:presLayoutVars>
      </dgm:prSet>
      <dgm:spPr/>
    </dgm:pt>
  </dgm:ptLst>
  <dgm:cxnLst>
    <dgm:cxn modelId="{E61F3E01-9AB6-4681-9A16-40162288968C}" type="presOf" srcId="{0872DB15-71C0-4214-B981-5E9DD8012900}" destId="{FAEB7B86-B715-4A96-81D6-086E49A6B661}" srcOrd="0" destOrd="0" presId="urn:microsoft.com/office/officeart/2005/8/layout/vList2"/>
    <dgm:cxn modelId="{4EE4D701-6BFB-42AE-90B7-708D04F72D4B}" srcId="{C08DDD59-5679-4A45-8C0D-E3B2FB64B839}" destId="{D86027BE-74BD-4222-B970-211F7FE9E2A3}" srcOrd="1" destOrd="0" parTransId="{3FA9D981-2EC0-4D32-A418-E72EDF6708A0}" sibTransId="{B6B26913-4A11-4815-9961-6C66DA529EE9}"/>
    <dgm:cxn modelId="{CCAC9D0E-2FEB-4BF8-94AB-374A44D4590F}" srcId="{C08DDD59-5679-4A45-8C0D-E3B2FB64B839}" destId="{2229820D-742C-4E54-84A3-2C139A1CF642}" srcOrd="0" destOrd="0" parTransId="{26B3D1AE-1A52-47A9-9F3D-C0E409E53F3B}" sibTransId="{C71D28DF-D4A8-4F1C-B96A-211716E3F895}"/>
    <dgm:cxn modelId="{D9BAE72B-FBC9-410B-BE86-BC717E140B88}" type="presOf" srcId="{2229820D-742C-4E54-84A3-2C139A1CF642}" destId="{E66EE94C-4BE1-4A77-95E0-A04B61333C39}" srcOrd="0" destOrd="0" presId="urn:microsoft.com/office/officeart/2005/8/layout/vList2"/>
    <dgm:cxn modelId="{D1F2746B-B94C-455E-BA84-604C49153B58}" type="presOf" srcId="{BF0A587A-34BD-4602-9560-624CEB21AA9A}" destId="{9C4C67C1-AB13-4972-AFBB-CC0DD55AF709}" srcOrd="0" destOrd="0" presId="urn:microsoft.com/office/officeart/2005/8/layout/vList2"/>
    <dgm:cxn modelId="{ECCED556-CC2F-4C79-A904-A95EE6F0CBED}" srcId="{C08DDD59-5679-4A45-8C0D-E3B2FB64B839}" destId="{BE46C401-5E75-4079-860D-252452E97EC1}" srcOrd="2" destOrd="0" parTransId="{0D87D035-61B2-4D13-87D4-47925C46468E}" sibTransId="{94924C0E-C2FB-4C0D-88F1-297868DF5D1F}"/>
    <dgm:cxn modelId="{07DE588C-DC2B-4BFC-A128-8A73B3672292}" srcId="{C08DDD59-5679-4A45-8C0D-E3B2FB64B839}" destId="{0872DB15-71C0-4214-B981-5E9DD8012900}" srcOrd="4" destOrd="0" parTransId="{30C1CF9C-CF74-4330-B244-C42F3B07C3B8}" sibTransId="{2C60F340-A719-4FB1-A84F-1BEE23A49E1A}"/>
    <dgm:cxn modelId="{AB6DAEAA-AD29-4344-8C2A-BBC22FF3FE35}" type="presOf" srcId="{D86027BE-74BD-4222-B970-211F7FE9E2A3}" destId="{F7263064-3322-491C-AE1B-8DC288C427CA}" srcOrd="0" destOrd="0" presId="urn:microsoft.com/office/officeart/2005/8/layout/vList2"/>
    <dgm:cxn modelId="{E792DDBD-3892-4814-A1A4-0FB8BCC5F1CC}" srcId="{C08DDD59-5679-4A45-8C0D-E3B2FB64B839}" destId="{BF0A587A-34BD-4602-9560-624CEB21AA9A}" srcOrd="3" destOrd="0" parTransId="{2BD7647B-1393-401F-8365-D4F15E784803}" sibTransId="{E05511AE-2761-4778-B1E2-A7D69F78D3E4}"/>
    <dgm:cxn modelId="{8F3526C1-7C32-49AD-9655-4DC28FBBD91D}" type="presOf" srcId="{BE46C401-5E75-4079-860D-252452E97EC1}" destId="{BD5262CE-9DA6-4223-8BB4-F791544DBA52}" srcOrd="0" destOrd="0" presId="urn:microsoft.com/office/officeart/2005/8/layout/vList2"/>
    <dgm:cxn modelId="{E1AA72C9-41C1-4562-852D-7F6276D4243C}" type="presOf" srcId="{88228B2D-9EB6-4741-B8E9-BCE97E42C14E}" destId="{9E60FC7A-4A57-435A-B8F5-7BFB037320DA}" srcOrd="0" destOrd="0" presId="urn:microsoft.com/office/officeart/2005/8/layout/vList2"/>
    <dgm:cxn modelId="{7E6BDDE3-C2AE-4C55-92E5-F45B2E183964}" type="presOf" srcId="{995BFD75-96D9-4610-A295-EE5A16EBD47E}" destId="{7A11DDCE-BADA-4479-9AF1-9634A4395A92}" srcOrd="0" destOrd="0" presId="urn:microsoft.com/office/officeart/2005/8/layout/vList2"/>
    <dgm:cxn modelId="{C0E374E4-A855-47FD-A929-B4589DEF2CA9}" type="presOf" srcId="{C08DDD59-5679-4A45-8C0D-E3B2FB64B839}" destId="{47B4B405-4903-4C8E-9186-1F1CCE8C2FC1}" srcOrd="0" destOrd="0" presId="urn:microsoft.com/office/officeart/2005/8/layout/vList2"/>
    <dgm:cxn modelId="{65A710F4-7C45-45FE-9D5E-278EB2A417A4}" srcId="{C08DDD59-5679-4A45-8C0D-E3B2FB64B839}" destId="{88228B2D-9EB6-4741-B8E9-BCE97E42C14E}" srcOrd="6" destOrd="0" parTransId="{0FC8CEAC-30F1-4D85-95B1-657E6CEADF78}" sibTransId="{96A4014A-BD20-45CB-A2B2-F3390D4B109D}"/>
    <dgm:cxn modelId="{10A396F7-B9AA-4DF0-A496-F98D5A6C3A2E}" srcId="{C08DDD59-5679-4A45-8C0D-E3B2FB64B839}" destId="{995BFD75-96D9-4610-A295-EE5A16EBD47E}" srcOrd="5" destOrd="0" parTransId="{F26BA424-024D-41D1-A282-F19EE2C5C64A}" sibTransId="{2F1D75CC-D0B0-4B58-A7BC-9D1FE29CE020}"/>
    <dgm:cxn modelId="{A8F3A229-1561-43B2-934F-66BD81BB1F39}" type="presParOf" srcId="{47B4B405-4903-4C8E-9186-1F1CCE8C2FC1}" destId="{E66EE94C-4BE1-4A77-95E0-A04B61333C39}" srcOrd="0" destOrd="0" presId="urn:microsoft.com/office/officeart/2005/8/layout/vList2"/>
    <dgm:cxn modelId="{E37B5C0B-F010-4E05-8AEA-9E509EE9BE43}" type="presParOf" srcId="{47B4B405-4903-4C8E-9186-1F1CCE8C2FC1}" destId="{2CEC2913-EEA5-4B4B-8CE4-5639A7E77C4D}" srcOrd="1" destOrd="0" presId="urn:microsoft.com/office/officeart/2005/8/layout/vList2"/>
    <dgm:cxn modelId="{19F5C651-D375-45E5-8C7C-73F69F576304}" type="presParOf" srcId="{47B4B405-4903-4C8E-9186-1F1CCE8C2FC1}" destId="{F7263064-3322-491C-AE1B-8DC288C427CA}" srcOrd="2" destOrd="0" presId="urn:microsoft.com/office/officeart/2005/8/layout/vList2"/>
    <dgm:cxn modelId="{D5E7AE00-5E5A-48D1-82A8-AB3D28E1A32E}" type="presParOf" srcId="{47B4B405-4903-4C8E-9186-1F1CCE8C2FC1}" destId="{1DBB4BFA-C0C6-4C09-96C6-6F089E3BCBC1}" srcOrd="3" destOrd="0" presId="urn:microsoft.com/office/officeart/2005/8/layout/vList2"/>
    <dgm:cxn modelId="{F10D2989-F614-4E59-8D1B-58C8270A6CB9}" type="presParOf" srcId="{47B4B405-4903-4C8E-9186-1F1CCE8C2FC1}" destId="{BD5262CE-9DA6-4223-8BB4-F791544DBA52}" srcOrd="4" destOrd="0" presId="urn:microsoft.com/office/officeart/2005/8/layout/vList2"/>
    <dgm:cxn modelId="{32D740F3-0D07-4568-85D0-DCF24193E41F}" type="presParOf" srcId="{47B4B405-4903-4C8E-9186-1F1CCE8C2FC1}" destId="{96FC6351-10E9-4A4C-8E7F-804D2DD4CCC0}" srcOrd="5" destOrd="0" presId="urn:microsoft.com/office/officeart/2005/8/layout/vList2"/>
    <dgm:cxn modelId="{31306710-B5CE-439C-B06A-11FF126861B6}" type="presParOf" srcId="{47B4B405-4903-4C8E-9186-1F1CCE8C2FC1}" destId="{9C4C67C1-AB13-4972-AFBB-CC0DD55AF709}" srcOrd="6" destOrd="0" presId="urn:microsoft.com/office/officeart/2005/8/layout/vList2"/>
    <dgm:cxn modelId="{6BB50D7E-F271-4A8C-9B4A-C2DDE2D46BFF}" type="presParOf" srcId="{47B4B405-4903-4C8E-9186-1F1CCE8C2FC1}" destId="{B6306088-CCA7-403A-8D37-A84A7352E1B0}" srcOrd="7" destOrd="0" presId="urn:microsoft.com/office/officeart/2005/8/layout/vList2"/>
    <dgm:cxn modelId="{396F7B4A-0EB6-4FFF-BACD-2F3F73F36F94}" type="presParOf" srcId="{47B4B405-4903-4C8E-9186-1F1CCE8C2FC1}" destId="{FAEB7B86-B715-4A96-81D6-086E49A6B661}" srcOrd="8" destOrd="0" presId="urn:microsoft.com/office/officeart/2005/8/layout/vList2"/>
    <dgm:cxn modelId="{F3D4DF11-C40E-4EA9-A5F1-D7515A774F0F}" type="presParOf" srcId="{47B4B405-4903-4C8E-9186-1F1CCE8C2FC1}" destId="{112C3C76-3814-4C5F-948B-B6F040F49C8E}" srcOrd="9" destOrd="0" presId="urn:microsoft.com/office/officeart/2005/8/layout/vList2"/>
    <dgm:cxn modelId="{8EC32109-9343-4074-8330-EE69FB7D9168}" type="presParOf" srcId="{47B4B405-4903-4C8E-9186-1F1CCE8C2FC1}" destId="{7A11DDCE-BADA-4479-9AF1-9634A4395A92}" srcOrd="10" destOrd="0" presId="urn:microsoft.com/office/officeart/2005/8/layout/vList2"/>
    <dgm:cxn modelId="{C0381D71-00C2-47F1-8393-A0220455A175}" type="presParOf" srcId="{47B4B405-4903-4C8E-9186-1F1CCE8C2FC1}" destId="{A0D3C10A-9750-4FE3-B4A7-739D0372A9BF}" srcOrd="11" destOrd="0" presId="urn:microsoft.com/office/officeart/2005/8/layout/vList2"/>
    <dgm:cxn modelId="{89632719-C5E1-404E-83F9-94757926FB41}" type="presParOf" srcId="{47B4B405-4903-4C8E-9186-1F1CCE8C2FC1}" destId="{9E60FC7A-4A57-435A-B8F5-7BFB037320DA}"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722061-F19C-4E0B-A32E-4666F3011B9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8F49DD9-F3D6-4D8F-B3DD-9690D748B678}">
      <dgm:prSet/>
      <dgm:spPr/>
      <dgm:t>
        <a:bodyPr/>
        <a:lstStyle/>
        <a:p>
          <a:r>
            <a:rPr lang="en-US"/>
            <a:t>Accuracy alone doesn’t show </a:t>
          </a:r>
          <a:r>
            <a:rPr lang="en-US" i="1"/>
            <a:t>why</a:t>
          </a:r>
          <a:r>
            <a:rPr lang="en-US"/>
            <a:t> models fail.</a:t>
          </a:r>
        </a:p>
      </dgm:t>
    </dgm:pt>
    <dgm:pt modelId="{E572858C-6C66-4274-A65C-37D63C5A8B82}" type="parTrans" cxnId="{0EF62FE3-1CE7-49C3-AE76-F34BA17104E4}">
      <dgm:prSet/>
      <dgm:spPr/>
      <dgm:t>
        <a:bodyPr/>
        <a:lstStyle/>
        <a:p>
          <a:endParaRPr lang="en-US"/>
        </a:p>
      </dgm:t>
    </dgm:pt>
    <dgm:pt modelId="{D7F2321F-D0C8-43E9-B896-044046F22782}" type="sibTrans" cxnId="{0EF62FE3-1CE7-49C3-AE76-F34BA17104E4}">
      <dgm:prSet/>
      <dgm:spPr/>
      <dgm:t>
        <a:bodyPr/>
        <a:lstStyle/>
        <a:p>
          <a:endParaRPr lang="en-US"/>
        </a:p>
      </dgm:t>
    </dgm:pt>
    <dgm:pt modelId="{4D5D8590-4E6A-418E-90A6-86C20368C0E6}">
      <dgm:prSet/>
      <dgm:spPr/>
      <dgm:t>
        <a:bodyPr/>
        <a:lstStyle/>
        <a:p>
          <a:r>
            <a:rPr lang="en-US"/>
            <a:t>We manually inspect a subset of responses to analyze:</a:t>
          </a:r>
          <a:br>
            <a:rPr lang="en-US"/>
          </a:br>
          <a:br>
            <a:rPr lang="en-US"/>
          </a:br>
          <a:r>
            <a:rPr lang="en-US"/>
            <a:t>a) Reasoning quality across collaboration rounds</a:t>
          </a:r>
          <a:br>
            <a:rPr lang="en-US"/>
          </a:br>
          <a:br>
            <a:rPr lang="en-US"/>
          </a:br>
          <a:r>
            <a:rPr lang="en-US"/>
            <a:t>b) </a:t>
          </a:r>
          <a:r>
            <a:rPr lang="en-IN"/>
            <a:t>Error patterns (hallucination, overconfidence, conformity)</a:t>
          </a:r>
          <a:br>
            <a:rPr lang="en-IN"/>
          </a:br>
          <a:br>
            <a:rPr lang="en-IN"/>
          </a:br>
          <a:r>
            <a:rPr lang="en-IN"/>
            <a:t>c) </a:t>
          </a:r>
          <a:r>
            <a:rPr lang="en-US"/>
            <a:t>Whether blinding reduces confident wrong consensus</a:t>
          </a:r>
        </a:p>
      </dgm:t>
    </dgm:pt>
    <dgm:pt modelId="{21A57E1B-71C9-4162-A4B4-77FDE16DC633}" type="parTrans" cxnId="{2EC30777-7D84-4096-BFFB-5C8FC727E4E4}">
      <dgm:prSet/>
      <dgm:spPr/>
      <dgm:t>
        <a:bodyPr/>
        <a:lstStyle/>
        <a:p>
          <a:endParaRPr lang="en-US"/>
        </a:p>
      </dgm:t>
    </dgm:pt>
    <dgm:pt modelId="{7F8C825B-5705-4862-836E-BE15EC67AFFD}" type="sibTrans" cxnId="{2EC30777-7D84-4096-BFFB-5C8FC727E4E4}">
      <dgm:prSet/>
      <dgm:spPr/>
      <dgm:t>
        <a:bodyPr/>
        <a:lstStyle/>
        <a:p>
          <a:endParaRPr lang="en-US"/>
        </a:p>
      </dgm:t>
    </dgm:pt>
    <dgm:pt modelId="{A0B09B55-3917-4743-8E0B-73604EA1DFA4}" type="pres">
      <dgm:prSet presAssocID="{F5722061-F19C-4E0B-A32E-4666F3011B90}" presName="root" presStyleCnt="0">
        <dgm:presLayoutVars>
          <dgm:dir/>
          <dgm:resizeHandles val="exact"/>
        </dgm:presLayoutVars>
      </dgm:prSet>
      <dgm:spPr/>
    </dgm:pt>
    <dgm:pt modelId="{8CF39A08-D1FD-4D75-B31E-F85ABAA8475A}" type="pres">
      <dgm:prSet presAssocID="{18F49DD9-F3D6-4D8F-B3DD-9690D748B678}" presName="compNode" presStyleCnt="0"/>
      <dgm:spPr/>
    </dgm:pt>
    <dgm:pt modelId="{5C52FFF0-6622-4FE6-9C4D-971FCE90A6E3}" type="pres">
      <dgm:prSet presAssocID="{18F49DD9-F3D6-4D8F-B3DD-9690D748B678}" presName="bgRect" presStyleLbl="bgShp" presStyleIdx="0" presStyleCnt="2"/>
      <dgm:spPr/>
    </dgm:pt>
    <dgm:pt modelId="{89523353-EFFB-44D9-8523-9909D8BB7A0E}" type="pres">
      <dgm:prSet presAssocID="{18F49DD9-F3D6-4D8F-B3DD-9690D748B67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E4230B3A-5AED-4DE5-A370-7ADA05636B5F}" type="pres">
      <dgm:prSet presAssocID="{18F49DD9-F3D6-4D8F-B3DD-9690D748B678}" presName="spaceRect" presStyleCnt="0"/>
      <dgm:spPr/>
    </dgm:pt>
    <dgm:pt modelId="{F65D7EAE-9435-4DE8-8D1A-384E789BE80E}" type="pres">
      <dgm:prSet presAssocID="{18F49DD9-F3D6-4D8F-B3DD-9690D748B678}" presName="parTx" presStyleLbl="revTx" presStyleIdx="0" presStyleCnt="2">
        <dgm:presLayoutVars>
          <dgm:chMax val="0"/>
          <dgm:chPref val="0"/>
        </dgm:presLayoutVars>
      </dgm:prSet>
      <dgm:spPr/>
    </dgm:pt>
    <dgm:pt modelId="{85D8027B-6738-47A3-BFC2-8AFC28400CD4}" type="pres">
      <dgm:prSet presAssocID="{D7F2321F-D0C8-43E9-B896-044046F22782}" presName="sibTrans" presStyleCnt="0"/>
      <dgm:spPr/>
    </dgm:pt>
    <dgm:pt modelId="{AF866485-76D0-46A4-9BE4-1BD090681E9B}" type="pres">
      <dgm:prSet presAssocID="{4D5D8590-4E6A-418E-90A6-86C20368C0E6}" presName="compNode" presStyleCnt="0"/>
      <dgm:spPr/>
    </dgm:pt>
    <dgm:pt modelId="{D201A1EA-2019-4E64-A768-3AE06159751C}" type="pres">
      <dgm:prSet presAssocID="{4D5D8590-4E6A-418E-90A6-86C20368C0E6}" presName="bgRect" presStyleLbl="bgShp" presStyleIdx="1" presStyleCnt="2"/>
      <dgm:spPr/>
    </dgm:pt>
    <dgm:pt modelId="{9A35D2EA-66BA-4020-AD31-F16A9556EEF3}" type="pres">
      <dgm:prSet presAssocID="{4D5D8590-4E6A-418E-90A6-86C20368C0E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FD5C948-61AB-4C3E-BC97-5283D66F75B3}" type="pres">
      <dgm:prSet presAssocID="{4D5D8590-4E6A-418E-90A6-86C20368C0E6}" presName="spaceRect" presStyleCnt="0"/>
      <dgm:spPr/>
    </dgm:pt>
    <dgm:pt modelId="{22F89211-9A24-4A2F-9654-F3014A60EBE0}" type="pres">
      <dgm:prSet presAssocID="{4D5D8590-4E6A-418E-90A6-86C20368C0E6}" presName="parTx" presStyleLbl="revTx" presStyleIdx="1" presStyleCnt="2">
        <dgm:presLayoutVars>
          <dgm:chMax val="0"/>
          <dgm:chPref val="0"/>
        </dgm:presLayoutVars>
      </dgm:prSet>
      <dgm:spPr/>
    </dgm:pt>
  </dgm:ptLst>
  <dgm:cxnLst>
    <dgm:cxn modelId="{1A22994E-665B-4F54-BA3D-BB87B369F642}" type="presOf" srcId="{4D5D8590-4E6A-418E-90A6-86C20368C0E6}" destId="{22F89211-9A24-4A2F-9654-F3014A60EBE0}" srcOrd="0" destOrd="0" presId="urn:microsoft.com/office/officeart/2018/2/layout/IconVerticalSolidList"/>
    <dgm:cxn modelId="{2EC30777-7D84-4096-BFFB-5C8FC727E4E4}" srcId="{F5722061-F19C-4E0B-A32E-4666F3011B90}" destId="{4D5D8590-4E6A-418E-90A6-86C20368C0E6}" srcOrd="1" destOrd="0" parTransId="{21A57E1B-71C9-4162-A4B4-77FDE16DC633}" sibTransId="{7F8C825B-5705-4862-836E-BE15EC67AFFD}"/>
    <dgm:cxn modelId="{28B9F1CA-4659-47FD-9DF4-1E8742E9C187}" type="presOf" srcId="{F5722061-F19C-4E0B-A32E-4666F3011B90}" destId="{A0B09B55-3917-4743-8E0B-73604EA1DFA4}" srcOrd="0" destOrd="0" presId="urn:microsoft.com/office/officeart/2018/2/layout/IconVerticalSolidList"/>
    <dgm:cxn modelId="{1EBB89CD-789A-4454-945B-52FAD678B918}" type="presOf" srcId="{18F49DD9-F3D6-4D8F-B3DD-9690D748B678}" destId="{F65D7EAE-9435-4DE8-8D1A-384E789BE80E}" srcOrd="0" destOrd="0" presId="urn:microsoft.com/office/officeart/2018/2/layout/IconVerticalSolidList"/>
    <dgm:cxn modelId="{0EF62FE3-1CE7-49C3-AE76-F34BA17104E4}" srcId="{F5722061-F19C-4E0B-A32E-4666F3011B90}" destId="{18F49DD9-F3D6-4D8F-B3DD-9690D748B678}" srcOrd="0" destOrd="0" parTransId="{E572858C-6C66-4274-A65C-37D63C5A8B82}" sibTransId="{D7F2321F-D0C8-43E9-B896-044046F22782}"/>
    <dgm:cxn modelId="{29A88F72-3C77-4253-8896-1571868BCDF3}" type="presParOf" srcId="{A0B09B55-3917-4743-8E0B-73604EA1DFA4}" destId="{8CF39A08-D1FD-4D75-B31E-F85ABAA8475A}" srcOrd="0" destOrd="0" presId="urn:microsoft.com/office/officeart/2018/2/layout/IconVerticalSolidList"/>
    <dgm:cxn modelId="{1A280E50-2934-4301-9F86-11E84BD17FB2}" type="presParOf" srcId="{8CF39A08-D1FD-4D75-B31E-F85ABAA8475A}" destId="{5C52FFF0-6622-4FE6-9C4D-971FCE90A6E3}" srcOrd="0" destOrd="0" presId="urn:microsoft.com/office/officeart/2018/2/layout/IconVerticalSolidList"/>
    <dgm:cxn modelId="{51EF9B7B-76C1-459A-894B-A63D817FCC89}" type="presParOf" srcId="{8CF39A08-D1FD-4D75-B31E-F85ABAA8475A}" destId="{89523353-EFFB-44D9-8523-9909D8BB7A0E}" srcOrd="1" destOrd="0" presId="urn:microsoft.com/office/officeart/2018/2/layout/IconVerticalSolidList"/>
    <dgm:cxn modelId="{B4EE52BA-2534-46C4-8E60-B3F2EC50FB18}" type="presParOf" srcId="{8CF39A08-D1FD-4D75-B31E-F85ABAA8475A}" destId="{E4230B3A-5AED-4DE5-A370-7ADA05636B5F}" srcOrd="2" destOrd="0" presId="urn:microsoft.com/office/officeart/2018/2/layout/IconVerticalSolidList"/>
    <dgm:cxn modelId="{88D4B8F2-2D7E-4D16-B456-9C74C04F2BA5}" type="presParOf" srcId="{8CF39A08-D1FD-4D75-B31E-F85ABAA8475A}" destId="{F65D7EAE-9435-4DE8-8D1A-384E789BE80E}" srcOrd="3" destOrd="0" presId="urn:microsoft.com/office/officeart/2018/2/layout/IconVerticalSolidList"/>
    <dgm:cxn modelId="{33A5FC47-2B78-4E3A-A025-F6A7CBE47F1C}" type="presParOf" srcId="{A0B09B55-3917-4743-8E0B-73604EA1DFA4}" destId="{85D8027B-6738-47A3-BFC2-8AFC28400CD4}" srcOrd="1" destOrd="0" presId="urn:microsoft.com/office/officeart/2018/2/layout/IconVerticalSolidList"/>
    <dgm:cxn modelId="{EA0D2309-2E85-4ED0-A9C2-4EE66F98CFE9}" type="presParOf" srcId="{A0B09B55-3917-4743-8E0B-73604EA1DFA4}" destId="{AF866485-76D0-46A4-9BE4-1BD090681E9B}" srcOrd="2" destOrd="0" presId="urn:microsoft.com/office/officeart/2018/2/layout/IconVerticalSolidList"/>
    <dgm:cxn modelId="{B99983CD-5BC4-4D86-AA3E-1A4129B7A07D}" type="presParOf" srcId="{AF866485-76D0-46A4-9BE4-1BD090681E9B}" destId="{D201A1EA-2019-4E64-A768-3AE06159751C}" srcOrd="0" destOrd="0" presId="urn:microsoft.com/office/officeart/2018/2/layout/IconVerticalSolidList"/>
    <dgm:cxn modelId="{A281D1BF-A3A1-4CB2-948F-2A1FD0371A33}" type="presParOf" srcId="{AF866485-76D0-46A4-9BE4-1BD090681E9B}" destId="{9A35D2EA-66BA-4020-AD31-F16A9556EEF3}" srcOrd="1" destOrd="0" presId="urn:microsoft.com/office/officeart/2018/2/layout/IconVerticalSolidList"/>
    <dgm:cxn modelId="{E41D362C-FF05-43C2-8A94-FF3DA5F2D714}" type="presParOf" srcId="{AF866485-76D0-46A4-9BE4-1BD090681E9B}" destId="{AFD5C948-61AB-4C3E-BC97-5283D66F75B3}" srcOrd="2" destOrd="0" presId="urn:microsoft.com/office/officeart/2018/2/layout/IconVerticalSolidList"/>
    <dgm:cxn modelId="{2C1A3BC5-CE51-494F-9AB4-14E118564AA2}" type="presParOf" srcId="{AF866485-76D0-46A4-9BE4-1BD090681E9B}" destId="{22F89211-9A24-4A2F-9654-F3014A60EBE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7B6380-0089-439D-9DFF-933C610BF95B}" type="doc">
      <dgm:prSet loTypeId="urn:microsoft.com/office/officeart/2005/8/layout/hChevron3" loCatId="process" qsTypeId="urn:microsoft.com/office/officeart/2005/8/quickstyle/simple1" qsCatId="simple" csTypeId="urn:microsoft.com/office/officeart/2005/8/colors/colorful5" csCatId="colorful"/>
      <dgm:spPr/>
      <dgm:t>
        <a:bodyPr/>
        <a:lstStyle/>
        <a:p>
          <a:endParaRPr lang="en-US"/>
        </a:p>
      </dgm:t>
    </dgm:pt>
    <dgm:pt modelId="{FCBA191E-306A-479E-A703-19F357310DFA}">
      <dgm:prSet/>
      <dgm:spPr/>
      <dgm:t>
        <a:bodyPr/>
        <a:lstStyle/>
        <a:p>
          <a:r>
            <a:rPr lang="en-CA"/>
            <a:t>Premise: 3 models (A, B, and C) solve a problem iteratively through rounds.</a:t>
          </a:r>
          <a:endParaRPr lang="en-US"/>
        </a:p>
      </dgm:t>
    </dgm:pt>
    <dgm:pt modelId="{046C0E3F-4C5D-4046-A98D-424C571EF08F}" type="parTrans" cxnId="{6C9FB222-C4D7-4363-838E-75EFC495786A}">
      <dgm:prSet/>
      <dgm:spPr/>
      <dgm:t>
        <a:bodyPr/>
        <a:lstStyle/>
        <a:p>
          <a:endParaRPr lang="en-US"/>
        </a:p>
      </dgm:t>
    </dgm:pt>
    <dgm:pt modelId="{0BEF8270-51AB-413F-9C0A-5B70494B9118}" type="sibTrans" cxnId="{6C9FB222-C4D7-4363-838E-75EFC495786A}">
      <dgm:prSet/>
      <dgm:spPr/>
      <dgm:t>
        <a:bodyPr/>
        <a:lstStyle/>
        <a:p>
          <a:endParaRPr lang="en-US"/>
        </a:p>
      </dgm:t>
    </dgm:pt>
    <dgm:pt modelId="{EA47D6B3-4391-4D16-895B-4ECA959A95F0}">
      <dgm:prSet/>
      <dgm:spPr/>
      <dgm:t>
        <a:bodyPr/>
        <a:lstStyle/>
        <a:p>
          <a:r>
            <a:rPr lang="en-CA"/>
            <a:t>Anatomy of a round:</a:t>
          </a:r>
          <a:endParaRPr lang="en-US"/>
        </a:p>
      </dgm:t>
    </dgm:pt>
    <dgm:pt modelId="{B8EC3B09-5320-4ADC-BA79-818B17177BBB}" type="parTrans" cxnId="{B2A3659A-0A27-476D-82EE-21D98FB06725}">
      <dgm:prSet/>
      <dgm:spPr/>
      <dgm:t>
        <a:bodyPr/>
        <a:lstStyle/>
        <a:p>
          <a:endParaRPr lang="en-US"/>
        </a:p>
      </dgm:t>
    </dgm:pt>
    <dgm:pt modelId="{CDE44779-4798-4639-B826-A7698E380522}" type="sibTrans" cxnId="{B2A3659A-0A27-476D-82EE-21D98FB06725}">
      <dgm:prSet/>
      <dgm:spPr/>
      <dgm:t>
        <a:bodyPr/>
        <a:lstStyle/>
        <a:p>
          <a:endParaRPr lang="en-US"/>
        </a:p>
      </dgm:t>
    </dgm:pt>
    <dgm:pt modelId="{7CC2F9FC-FF28-41BA-AF86-D1D2E6C48858}">
      <dgm:prSet/>
      <dgm:spPr/>
      <dgm:t>
        <a:bodyPr/>
        <a:lstStyle/>
        <a:p>
          <a:r>
            <a:rPr lang="en-US"/>
            <a:t>(First round only) Model A receives a question and generates an answer.</a:t>
          </a:r>
        </a:p>
      </dgm:t>
    </dgm:pt>
    <dgm:pt modelId="{6442A571-84EC-4355-9140-C0ABF644EAE7}" type="parTrans" cxnId="{7A1554A0-5D97-4B95-935E-FFA06B18B75F}">
      <dgm:prSet/>
      <dgm:spPr/>
      <dgm:t>
        <a:bodyPr/>
        <a:lstStyle/>
        <a:p>
          <a:endParaRPr lang="en-US"/>
        </a:p>
      </dgm:t>
    </dgm:pt>
    <dgm:pt modelId="{6DB6A012-2BFA-4551-AD2A-54B390AC51E3}" type="sibTrans" cxnId="{7A1554A0-5D97-4B95-935E-FFA06B18B75F}">
      <dgm:prSet/>
      <dgm:spPr/>
      <dgm:t>
        <a:bodyPr/>
        <a:lstStyle/>
        <a:p>
          <a:endParaRPr lang="en-US"/>
        </a:p>
      </dgm:t>
    </dgm:pt>
    <dgm:pt modelId="{49E7C707-D8A7-49CB-9727-709BAE1542A7}">
      <dgm:prSet/>
      <dgm:spPr/>
      <dgm:t>
        <a:bodyPr/>
        <a:lstStyle/>
        <a:p>
          <a:r>
            <a:rPr lang="en-US" dirty="0"/>
            <a:t>Model B receives the question and model A’s answer, and generates a score for the answer, and a revised answer.</a:t>
          </a:r>
        </a:p>
      </dgm:t>
    </dgm:pt>
    <dgm:pt modelId="{DA107356-B6F9-468B-84E7-CE2F7472E04F}" type="parTrans" cxnId="{DBC24FDA-98DF-4465-A7A1-272BC6BF3A4A}">
      <dgm:prSet/>
      <dgm:spPr/>
      <dgm:t>
        <a:bodyPr/>
        <a:lstStyle/>
        <a:p>
          <a:endParaRPr lang="en-US"/>
        </a:p>
      </dgm:t>
    </dgm:pt>
    <dgm:pt modelId="{01096203-71BA-4990-88A5-9B3BC98F4D10}" type="sibTrans" cxnId="{DBC24FDA-98DF-4465-A7A1-272BC6BF3A4A}">
      <dgm:prSet/>
      <dgm:spPr/>
      <dgm:t>
        <a:bodyPr/>
        <a:lstStyle/>
        <a:p>
          <a:endParaRPr lang="en-US"/>
        </a:p>
      </dgm:t>
    </dgm:pt>
    <dgm:pt modelId="{72FE6F7B-5821-4CDA-B9F1-E44AB78C5763}">
      <dgm:prSet/>
      <dgm:spPr/>
      <dgm:t>
        <a:bodyPr/>
        <a:lstStyle/>
        <a:p>
          <a:r>
            <a:rPr lang="en-US"/>
            <a:t>Model C receives model B’s answer and generates a score &amp; revision</a:t>
          </a:r>
        </a:p>
      </dgm:t>
    </dgm:pt>
    <dgm:pt modelId="{513C4EE7-6470-4206-AB07-84087BB491E8}" type="parTrans" cxnId="{72B90651-BB36-4BC6-BACB-5CA391B22657}">
      <dgm:prSet/>
      <dgm:spPr/>
      <dgm:t>
        <a:bodyPr/>
        <a:lstStyle/>
        <a:p>
          <a:endParaRPr lang="en-US"/>
        </a:p>
      </dgm:t>
    </dgm:pt>
    <dgm:pt modelId="{B3901C6A-31A7-4F35-9074-59609530CDA5}" type="sibTrans" cxnId="{72B90651-BB36-4BC6-BACB-5CA391B22657}">
      <dgm:prSet/>
      <dgm:spPr/>
      <dgm:t>
        <a:bodyPr/>
        <a:lstStyle/>
        <a:p>
          <a:endParaRPr lang="en-US"/>
        </a:p>
      </dgm:t>
    </dgm:pt>
    <dgm:pt modelId="{9DCFA883-0EAB-49A0-8842-BBB167B396E0}">
      <dgm:prSet/>
      <dgm:spPr/>
      <dgm:t>
        <a:bodyPr/>
        <a:lstStyle/>
        <a:p>
          <a:r>
            <a:rPr lang="en-US"/>
            <a:t>Model A receives model C’s answer and generates a score &amp; revision</a:t>
          </a:r>
        </a:p>
      </dgm:t>
    </dgm:pt>
    <dgm:pt modelId="{C0123A49-B44F-4023-B870-E4D4024D648F}" type="parTrans" cxnId="{783C5CCB-70AD-4763-8FFE-FEB33BF47BD6}">
      <dgm:prSet/>
      <dgm:spPr/>
      <dgm:t>
        <a:bodyPr/>
        <a:lstStyle/>
        <a:p>
          <a:endParaRPr lang="en-US"/>
        </a:p>
      </dgm:t>
    </dgm:pt>
    <dgm:pt modelId="{51BF32C5-5F20-452B-80F0-2DE6C30E864E}" type="sibTrans" cxnId="{783C5CCB-70AD-4763-8FFE-FEB33BF47BD6}">
      <dgm:prSet/>
      <dgm:spPr/>
      <dgm:t>
        <a:bodyPr/>
        <a:lstStyle/>
        <a:p>
          <a:endParaRPr lang="en-US"/>
        </a:p>
      </dgm:t>
    </dgm:pt>
    <dgm:pt modelId="{6E2A0DFA-C4AC-4EDC-9647-5E7378B32C45}">
      <dgm:prSet/>
      <dgm:spPr/>
      <dgm:t>
        <a:bodyPr/>
        <a:lstStyle/>
        <a:p>
          <a:r>
            <a:rPr lang="en-US"/>
            <a:t>Repeat, calculating Central Hub Variance for the last 3 scores each response (not each round).</a:t>
          </a:r>
        </a:p>
      </dgm:t>
    </dgm:pt>
    <dgm:pt modelId="{1FBBFC48-CCE6-43E3-9541-B64BED044DFB}" type="parTrans" cxnId="{0F8ABBB3-D7FC-443C-9E63-03DFEDA9C795}">
      <dgm:prSet/>
      <dgm:spPr/>
      <dgm:t>
        <a:bodyPr/>
        <a:lstStyle/>
        <a:p>
          <a:endParaRPr lang="en-US"/>
        </a:p>
      </dgm:t>
    </dgm:pt>
    <dgm:pt modelId="{CA137646-F188-4D46-BC2B-805744D7A137}" type="sibTrans" cxnId="{0F8ABBB3-D7FC-443C-9E63-03DFEDA9C795}">
      <dgm:prSet/>
      <dgm:spPr/>
      <dgm:t>
        <a:bodyPr/>
        <a:lstStyle/>
        <a:p>
          <a:endParaRPr lang="en-US"/>
        </a:p>
      </dgm:t>
    </dgm:pt>
    <dgm:pt modelId="{E5DA1B94-BF5E-4F34-BB65-9AF5DDF95EDE}" type="pres">
      <dgm:prSet presAssocID="{7A7B6380-0089-439D-9DFF-933C610BF95B}" presName="Name0" presStyleCnt="0">
        <dgm:presLayoutVars>
          <dgm:dir/>
          <dgm:resizeHandles val="exact"/>
        </dgm:presLayoutVars>
      </dgm:prSet>
      <dgm:spPr/>
    </dgm:pt>
    <dgm:pt modelId="{CEC18DF0-C271-40C6-A66C-7DB2C8E108C3}" type="pres">
      <dgm:prSet presAssocID="{FCBA191E-306A-479E-A703-19F357310DFA}" presName="parAndChTx" presStyleLbl="node1" presStyleIdx="0" presStyleCnt="2">
        <dgm:presLayoutVars>
          <dgm:bulletEnabled val="1"/>
        </dgm:presLayoutVars>
      </dgm:prSet>
      <dgm:spPr/>
    </dgm:pt>
    <dgm:pt modelId="{7DC725C2-8FC0-4046-82DB-202C00FDC7F8}" type="pres">
      <dgm:prSet presAssocID="{0BEF8270-51AB-413F-9C0A-5B70494B9118}" presName="parAndChSpace" presStyleCnt="0"/>
      <dgm:spPr/>
    </dgm:pt>
    <dgm:pt modelId="{4BEC2E80-1586-4807-91EB-3A5B73B41CF7}" type="pres">
      <dgm:prSet presAssocID="{EA47D6B3-4391-4D16-895B-4ECA959A95F0}" presName="parAndChTx" presStyleLbl="node1" presStyleIdx="1" presStyleCnt="2">
        <dgm:presLayoutVars>
          <dgm:bulletEnabled val="1"/>
        </dgm:presLayoutVars>
      </dgm:prSet>
      <dgm:spPr/>
    </dgm:pt>
  </dgm:ptLst>
  <dgm:cxnLst>
    <dgm:cxn modelId="{00A5730A-2847-4D97-BE13-5A9FCA6176E0}" type="presOf" srcId="{FCBA191E-306A-479E-A703-19F357310DFA}" destId="{CEC18DF0-C271-40C6-A66C-7DB2C8E108C3}" srcOrd="0" destOrd="0" presId="urn:microsoft.com/office/officeart/2005/8/layout/hChevron3"/>
    <dgm:cxn modelId="{78B7CE11-D2B5-4B37-8797-9ABEF6666FED}" type="presOf" srcId="{EA47D6B3-4391-4D16-895B-4ECA959A95F0}" destId="{4BEC2E80-1586-4807-91EB-3A5B73B41CF7}" srcOrd="0" destOrd="0" presId="urn:microsoft.com/office/officeart/2005/8/layout/hChevron3"/>
    <dgm:cxn modelId="{6C9FB222-C4D7-4363-838E-75EFC495786A}" srcId="{7A7B6380-0089-439D-9DFF-933C610BF95B}" destId="{FCBA191E-306A-479E-A703-19F357310DFA}" srcOrd="0" destOrd="0" parTransId="{046C0E3F-4C5D-4046-A98D-424C571EF08F}" sibTransId="{0BEF8270-51AB-413F-9C0A-5B70494B9118}"/>
    <dgm:cxn modelId="{A0E04727-EFB4-41F1-8C69-6B7E4EB7551A}" type="presOf" srcId="{9DCFA883-0EAB-49A0-8842-BBB167B396E0}" destId="{4BEC2E80-1586-4807-91EB-3A5B73B41CF7}" srcOrd="0" destOrd="4" presId="urn:microsoft.com/office/officeart/2005/8/layout/hChevron3"/>
    <dgm:cxn modelId="{72B90651-BB36-4BC6-BACB-5CA391B22657}" srcId="{EA47D6B3-4391-4D16-895B-4ECA959A95F0}" destId="{72FE6F7B-5821-4CDA-B9F1-E44AB78C5763}" srcOrd="2" destOrd="0" parTransId="{513C4EE7-6470-4206-AB07-84087BB491E8}" sibTransId="{B3901C6A-31A7-4F35-9074-59609530CDA5}"/>
    <dgm:cxn modelId="{D6DCB952-FED7-48D5-998F-102515AA269C}" type="presOf" srcId="{7A7B6380-0089-439D-9DFF-933C610BF95B}" destId="{E5DA1B94-BF5E-4F34-BB65-9AF5DDF95EDE}" srcOrd="0" destOrd="0" presId="urn:microsoft.com/office/officeart/2005/8/layout/hChevron3"/>
    <dgm:cxn modelId="{6690AC76-9D9A-4341-B025-1243C4DB1030}" type="presOf" srcId="{49E7C707-D8A7-49CB-9727-709BAE1542A7}" destId="{4BEC2E80-1586-4807-91EB-3A5B73B41CF7}" srcOrd="0" destOrd="2" presId="urn:microsoft.com/office/officeart/2005/8/layout/hChevron3"/>
    <dgm:cxn modelId="{0EF45781-C9B1-435B-9AD3-AF4502E11874}" type="presOf" srcId="{6E2A0DFA-C4AC-4EDC-9647-5E7378B32C45}" destId="{4BEC2E80-1586-4807-91EB-3A5B73B41CF7}" srcOrd="0" destOrd="5" presId="urn:microsoft.com/office/officeart/2005/8/layout/hChevron3"/>
    <dgm:cxn modelId="{A4731189-F2EA-4121-9DF6-C96959206CA3}" type="presOf" srcId="{7CC2F9FC-FF28-41BA-AF86-D1D2E6C48858}" destId="{4BEC2E80-1586-4807-91EB-3A5B73B41CF7}" srcOrd="0" destOrd="1" presId="urn:microsoft.com/office/officeart/2005/8/layout/hChevron3"/>
    <dgm:cxn modelId="{B2A3659A-0A27-476D-82EE-21D98FB06725}" srcId="{7A7B6380-0089-439D-9DFF-933C610BF95B}" destId="{EA47D6B3-4391-4D16-895B-4ECA959A95F0}" srcOrd="1" destOrd="0" parTransId="{B8EC3B09-5320-4ADC-BA79-818B17177BBB}" sibTransId="{CDE44779-4798-4639-B826-A7698E380522}"/>
    <dgm:cxn modelId="{7A1554A0-5D97-4B95-935E-FFA06B18B75F}" srcId="{EA47D6B3-4391-4D16-895B-4ECA959A95F0}" destId="{7CC2F9FC-FF28-41BA-AF86-D1D2E6C48858}" srcOrd="0" destOrd="0" parTransId="{6442A571-84EC-4355-9140-C0ABF644EAE7}" sibTransId="{6DB6A012-2BFA-4551-AD2A-54B390AC51E3}"/>
    <dgm:cxn modelId="{0F8ABBB3-D7FC-443C-9E63-03DFEDA9C795}" srcId="{EA47D6B3-4391-4D16-895B-4ECA959A95F0}" destId="{6E2A0DFA-C4AC-4EDC-9647-5E7378B32C45}" srcOrd="4" destOrd="0" parTransId="{1FBBFC48-CCE6-43E3-9541-B64BED044DFB}" sibTransId="{CA137646-F188-4D46-BC2B-805744D7A137}"/>
    <dgm:cxn modelId="{D8EC7ABB-68BF-4684-9071-2DCB54DA37C6}" type="presOf" srcId="{72FE6F7B-5821-4CDA-B9F1-E44AB78C5763}" destId="{4BEC2E80-1586-4807-91EB-3A5B73B41CF7}" srcOrd="0" destOrd="3" presId="urn:microsoft.com/office/officeart/2005/8/layout/hChevron3"/>
    <dgm:cxn modelId="{783C5CCB-70AD-4763-8FFE-FEB33BF47BD6}" srcId="{EA47D6B3-4391-4D16-895B-4ECA959A95F0}" destId="{9DCFA883-0EAB-49A0-8842-BBB167B396E0}" srcOrd="3" destOrd="0" parTransId="{C0123A49-B44F-4023-B870-E4D4024D648F}" sibTransId="{51BF32C5-5F20-452B-80F0-2DE6C30E864E}"/>
    <dgm:cxn modelId="{DBC24FDA-98DF-4465-A7A1-272BC6BF3A4A}" srcId="{EA47D6B3-4391-4D16-895B-4ECA959A95F0}" destId="{49E7C707-D8A7-49CB-9727-709BAE1542A7}" srcOrd="1" destOrd="0" parTransId="{DA107356-B6F9-468B-84E7-CE2F7472E04F}" sibTransId="{01096203-71BA-4990-88A5-9B3BC98F4D10}"/>
    <dgm:cxn modelId="{B17C7261-844A-4840-A66F-EB4DCF1B047C}" type="presParOf" srcId="{E5DA1B94-BF5E-4F34-BB65-9AF5DDF95EDE}" destId="{CEC18DF0-C271-40C6-A66C-7DB2C8E108C3}" srcOrd="0" destOrd="0" presId="urn:microsoft.com/office/officeart/2005/8/layout/hChevron3"/>
    <dgm:cxn modelId="{3CF20CDB-508E-4AEF-A0D9-84A2F99C92D8}" type="presParOf" srcId="{E5DA1B94-BF5E-4F34-BB65-9AF5DDF95EDE}" destId="{7DC725C2-8FC0-4046-82DB-202C00FDC7F8}" srcOrd="1" destOrd="0" presId="urn:microsoft.com/office/officeart/2005/8/layout/hChevron3"/>
    <dgm:cxn modelId="{8785BEBB-B566-40D3-B876-AD963F62E757}" type="presParOf" srcId="{E5DA1B94-BF5E-4F34-BB65-9AF5DDF95EDE}" destId="{4BEC2E80-1586-4807-91EB-3A5B73B41CF7}"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757B38-D628-4C9B-AA8E-912C0E6CCDB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A9541C3-BF56-4043-9447-8FFB8926A7D2}">
      <dgm:prSet/>
      <dgm:spPr/>
      <dgm:t>
        <a:bodyPr/>
        <a:lstStyle/>
        <a:p>
          <a:r>
            <a:rPr lang="en-US"/>
            <a:t>Strong MMLU-PRO accuracy competitive with the documented ICE framework accuracy of 72.1%.</a:t>
          </a:r>
        </a:p>
      </dgm:t>
    </dgm:pt>
    <dgm:pt modelId="{5B201BE7-DE87-47A9-B670-22E0F8C5F04C}" type="parTrans" cxnId="{B157AD18-0BCB-4448-8A88-2BFCA1C9D225}">
      <dgm:prSet/>
      <dgm:spPr/>
      <dgm:t>
        <a:bodyPr/>
        <a:lstStyle/>
        <a:p>
          <a:endParaRPr lang="en-US"/>
        </a:p>
      </dgm:t>
    </dgm:pt>
    <dgm:pt modelId="{2908D805-AF87-4E2F-B11B-039A5B46A73F}" type="sibTrans" cxnId="{B157AD18-0BCB-4448-8A88-2BFCA1C9D225}">
      <dgm:prSet/>
      <dgm:spPr/>
      <dgm:t>
        <a:bodyPr/>
        <a:lstStyle/>
        <a:p>
          <a:endParaRPr lang="en-US"/>
        </a:p>
      </dgm:t>
    </dgm:pt>
    <dgm:pt modelId="{A42C0985-43B4-44BA-AA64-1A29FA3FA96B}">
      <dgm:prSet/>
      <dgm:spPr/>
      <dgm:t>
        <a:bodyPr/>
        <a:lstStyle/>
        <a:p>
          <a:r>
            <a:rPr lang="en-US"/>
            <a:t>Strong MMLU-PRO accuracy competitive with similar open-source ensemble frameworks.</a:t>
          </a:r>
        </a:p>
      </dgm:t>
    </dgm:pt>
    <dgm:pt modelId="{2CF91592-461D-4C29-AA49-334420C1C7B7}" type="parTrans" cxnId="{6C0A76C9-8D23-4E44-9264-2DD3CE431527}">
      <dgm:prSet/>
      <dgm:spPr/>
      <dgm:t>
        <a:bodyPr/>
        <a:lstStyle/>
        <a:p>
          <a:endParaRPr lang="en-US"/>
        </a:p>
      </dgm:t>
    </dgm:pt>
    <dgm:pt modelId="{2672689A-B3DE-47C1-BE6F-40FD7ED22601}" type="sibTrans" cxnId="{6C0A76C9-8D23-4E44-9264-2DD3CE431527}">
      <dgm:prSet/>
      <dgm:spPr/>
      <dgm:t>
        <a:bodyPr/>
        <a:lstStyle/>
        <a:p>
          <a:endParaRPr lang="en-US"/>
        </a:p>
      </dgm:t>
    </dgm:pt>
    <dgm:pt modelId="{67696843-7DD0-4F73-9769-9C549551101E}">
      <dgm:prSet/>
      <dgm:spPr/>
      <dgm:t>
        <a:bodyPr/>
        <a:lstStyle/>
        <a:p>
          <a:r>
            <a:rPr lang="en-US"/>
            <a:t>Consistent accuracy performance above the independent performance of the constituent models.</a:t>
          </a:r>
        </a:p>
      </dgm:t>
    </dgm:pt>
    <dgm:pt modelId="{4C969972-5158-45AF-AE02-65FB3FB3A92C}" type="parTrans" cxnId="{0B07015E-F973-4139-9590-F456D586282E}">
      <dgm:prSet/>
      <dgm:spPr/>
      <dgm:t>
        <a:bodyPr/>
        <a:lstStyle/>
        <a:p>
          <a:endParaRPr lang="en-US"/>
        </a:p>
      </dgm:t>
    </dgm:pt>
    <dgm:pt modelId="{07459F3D-CBF1-400F-9143-77D6EAAF31CB}" type="sibTrans" cxnId="{0B07015E-F973-4139-9590-F456D586282E}">
      <dgm:prSet/>
      <dgm:spPr/>
      <dgm:t>
        <a:bodyPr/>
        <a:lstStyle/>
        <a:p>
          <a:endParaRPr lang="en-US"/>
        </a:p>
      </dgm:t>
    </dgm:pt>
    <dgm:pt modelId="{F043113E-2ABC-4935-81E9-C5E0D38774D4}">
      <dgm:prSet/>
      <dgm:spPr/>
      <dgm:t>
        <a:bodyPr/>
        <a:lstStyle/>
        <a:p>
          <a:r>
            <a:rPr lang="en-US"/>
            <a:t>Token count economy at or below similar ensemble approaches.</a:t>
          </a:r>
        </a:p>
      </dgm:t>
    </dgm:pt>
    <dgm:pt modelId="{1F3A591C-BCD7-4C98-910A-9A0E89E2F782}" type="parTrans" cxnId="{8AAB4B6F-D67A-44AF-B480-2B40A578E798}">
      <dgm:prSet/>
      <dgm:spPr/>
      <dgm:t>
        <a:bodyPr/>
        <a:lstStyle/>
        <a:p>
          <a:endParaRPr lang="en-US"/>
        </a:p>
      </dgm:t>
    </dgm:pt>
    <dgm:pt modelId="{7C32302A-8A6A-43EA-8356-92416AC1230A}" type="sibTrans" cxnId="{8AAB4B6F-D67A-44AF-B480-2B40A578E798}">
      <dgm:prSet/>
      <dgm:spPr/>
      <dgm:t>
        <a:bodyPr/>
        <a:lstStyle/>
        <a:p>
          <a:endParaRPr lang="en-US"/>
        </a:p>
      </dgm:t>
    </dgm:pt>
    <dgm:pt modelId="{2C7B4B7B-DDE9-423E-9FE8-B10F952023D6}">
      <dgm:prSet/>
      <dgm:spPr/>
      <dgm:t>
        <a:bodyPr/>
        <a:lstStyle/>
        <a:p>
          <a:r>
            <a:rPr lang="en-US"/>
            <a:t>Confidence scoring mechanism that can be used to effectively assess the quality and value of the ensemble response.</a:t>
          </a:r>
        </a:p>
      </dgm:t>
    </dgm:pt>
    <dgm:pt modelId="{E0D5607C-C5B1-441D-8452-F4244F07CD5A}" type="parTrans" cxnId="{92D1ED8B-79E0-40B7-B0EB-69FCB3ADB9C5}">
      <dgm:prSet/>
      <dgm:spPr/>
      <dgm:t>
        <a:bodyPr/>
        <a:lstStyle/>
        <a:p>
          <a:endParaRPr lang="en-US"/>
        </a:p>
      </dgm:t>
    </dgm:pt>
    <dgm:pt modelId="{373ACE23-081C-457C-8CE5-938A88D8B951}" type="sibTrans" cxnId="{92D1ED8B-79E0-40B7-B0EB-69FCB3ADB9C5}">
      <dgm:prSet/>
      <dgm:spPr/>
      <dgm:t>
        <a:bodyPr/>
        <a:lstStyle/>
        <a:p>
          <a:endParaRPr lang="en-US"/>
        </a:p>
      </dgm:t>
    </dgm:pt>
    <dgm:pt modelId="{FDD1F14F-944D-4190-A0A4-467947FE57E7}" type="pres">
      <dgm:prSet presAssocID="{43757B38-D628-4C9B-AA8E-912C0E6CCDB2}" presName="linear" presStyleCnt="0">
        <dgm:presLayoutVars>
          <dgm:animLvl val="lvl"/>
          <dgm:resizeHandles val="exact"/>
        </dgm:presLayoutVars>
      </dgm:prSet>
      <dgm:spPr/>
    </dgm:pt>
    <dgm:pt modelId="{A874A1EB-159D-4753-845E-AB1DFE689055}" type="pres">
      <dgm:prSet presAssocID="{CA9541C3-BF56-4043-9447-8FFB8926A7D2}" presName="parentText" presStyleLbl="node1" presStyleIdx="0" presStyleCnt="5">
        <dgm:presLayoutVars>
          <dgm:chMax val="0"/>
          <dgm:bulletEnabled val="1"/>
        </dgm:presLayoutVars>
      </dgm:prSet>
      <dgm:spPr/>
    </dgm:pt>
    <dgm:pt modelId="{85B73134-A01D-4127-BBE0-F8316F2E9754}" type="pres">
      <dgm:prSet presAssocID="{2908D805-AF87-4E2F-B11B-039A5B46A73F}" presName="spacer" presStyleCnt="0"/>
      <dgm:spPr/>
    </dgm:pt>
    <dgm:pt modelId="{4670A5FC-A272-476D-99A7-40DF1D54B8B1}" type="pres">
      <dgm:prSet presAssocID="{A42C0985-43B4-44BA-AA64-1A29FA3FA96B}" presName="parentText" presStyleLbl="node1" presStyleIdx="1" presStyleCnt="5">
        <dgm:presLayoutVars>
          <dgm:chMax val="0"/>
          <dgm:bulletEnabled val="1"/>
        </dgm:presLayoutVars>
      </dgm:prSet>
      <dgm:spPr/>
    </dgm:pt>
    <dgm:pt modelId="{1BE97155-3C3D-427F-9E16-7C94D721226E}" type="pres">
      <dgm:prSet presAssocID="{2672689A-B3DE-47C1-BE6F-40FD7ED22601}" presName="spacer" presStyleCnt="0"/>
      <dgm:spPr/>
    </dgm:pt>
    <dgm:pt modelId="{225AE4BE-86BA-437B-BB27-DE7BDED90833}" type="pres">
      <dgm:prSet presAssocID="{67696843-7DD0-4F73-9769-9C549551101E}" presName="parentText" presStyleLbl="node1" presStyleIdx="2" presStyleCnt="5">
        <dgm:presLayoutVars>
          <dgm:chMax val="0"/>
          <dgm:bulletEnabled val="1"/>
        </dgm:presLayoutVars>
      </dgm:prSet>
      <dgm:spPr/>
    </dgm:pt>
    <dgm:pt modelId="{DDF963B8-3D3D-41A6-AB93-B6E6FB09D85E}" type="pres">
      <dgm:prSet presAssocID="{07459F3D-CBF1-400F-9143-77D6EAAF31CB}" presName="spacer" presStyleCnt="0"/>
      <dgm:spPr/>
    </dgm:pt>
    <dgm:pt modelId="{27095F72-7218-41DB-854C-969429E636D3}" type="pres">
      <dgm:prSet presAssocID="{F043113E-2ABC-4935-81E9-C5E0D38774D4}" presName="parentText" presStyleLbl="node1" presStyleIdx="3" presStyleCnt="5">
        <dgm:presLayoutVars>
          <dgm:chMax val="0"/>
          <dgm:bulletEnabled val="1"/>
        </dgm:presLayoutVars>
      </dgm:prSet>
      <dgm:spPr/>
    </dgm:pt>
    <dgm:pt modelId="{6D5436FE-F71F-4B18-9C48-A30204ED664C}" type="pres">
      <dgm:prSet presAssocID="{7C32302A-8A6A-43EA-8356-92416AC1230A}" presName="spacer" presStyleCnt="0"/>
      <dgm:spPr/>
    </dgm:pt>
    <dgm:pt modelId="{D62CAEA9-9754-4344-A02F-7CDB6EBF3F90}" type="pres">
      <dgm:prSet presAssocID="{2C7B4B7B-DDE9-423E-9FE8-B10F952023D6}" presName="parentText" presStyleLbl="node1" presStyleIdx="4" presStyleCnt="5">
        <dgm:presLayoutVars>
          <dgm:chMax val="0"/>
          <dgm:bulletEnabled val="1"/>
        </dgm:presLayoutVars>
      </dgm:prSet>
      <dgm:spPr/>
    </dgm:pt>
  </dgm:ptLst>
  <dgm:cxnLst>
    <dgm:cxn modelId="{B157AD18-0BCB-4448-8A88-2BFCA1C9D225}" srcId="{43757B38-D628-4C9B-AA8E-912C0E6CCDB2}" destId="{CA9541C3-BF56-4043-9447-8FFB8926A7D2}" srcOrd="0" destOrd="0" parTransId="{5B201BE7-DE87-47A9-B670-22E0F8C5F04C}" sibTransId="{2908D805-AF87-4E2F-B11B-039A5B46A73F}"/>
    <dgm:cxn modelId="{0B07015E-F973-4139-9590-F456D586282E}" srcId="{43757B38-D628-4C9B-AA8E-912C0E6CCDB2}" destId="{67696843-7DD0-4F73-9769-9C549551101E}" srcOrd="2" destOrd="0" parTransId="{4C969972-5158-45AF-AE02-65FB3FB3A92C}" sibTransId="{07459F3D-CBF1-400F-9143-77D6EAAF31CB}"/>
    <dgm:cxn modelId="{8C9F1C4C-F941-48DE-84FA-E6DD9BA967B8}" type="presOf" srcId="{CA9541C3-BF56-4043-9447-8FFB8926A7D2}" destId="{A874A1EB-159D-4753-845E-AB1DFE689055}" srcOrd="0" destOrd="0" presId="urn:microsoft.com/office/officeart/2005/8/layout/vList2"/>
    <dgm:cxn modelId="{8AAB4B6F-D67A-44AF-B480-2B40A578E798}" srcId="{43757B38-D628-4C9B-AA8E-912C0E6CCDB2}" destId="{F043113E-2ABC-4935-81E9-C5E0D38774D4}" srcOrd="3" destOrd="0" parTransId="{1F3A591C-BCD7-4C98-910A-9A0E89E2F782}" sibTransId="{7C32302A-8A6A-43EA-8356-92416AC1230A}"/>
    <dgm:cxn modelId="{06F60185-76E1-4AD0-8375-9766AC00E439}" type="presOf" srcId="{F043113E-2ABC-4935-81E9-C5E0D38774D4}" destId="{27095F72-7218-41DB-854C-969429E636D3}" srcOrd="0" destOrd="0" presId="urn:microsoft.com/office/officeart/2005/8/layout/vList2"/>
    <dgm:cxn modelId="{21D55A86-47B9-495D-9494-E4D358D3B2FB}" type="presOf" srcId="{43757B38-D628-4C9B-AA8E-912C0E6CCDB2}" destId="{FDD1F14F-944D-4190-A0A4-467947FE57E7}" srcOrd="0" destOrd="0" presId="urn:microsoft.com/office/officeart/2005/8/layout/vList2"/>
    <dgm:cxn modelId="{92D1ED8B-79E0-40B7-B0EB-69FCB3ADB9C5}" srcId="{43757B38-D628-4C9B-AA8E-912C0E6CCDB2}" destId="{2C7B4B7B-DDE9-423E-9FE8-B10F952023D6}" srcOrd="4" destOrd="0" parTransId="{E0D5607C-C5B1-441D-8452-F4244F07CD5A}" sibTransId="{373ACE23-081C-457C-8CE5-938A88D8B951}"/>
    <dgm:cxn modelId="{755537A6-CEDC-4198-864F-A6252E53C8A4}" type="presOf" srcId="{2C7B4B7B-DDE9-423E-9FE8-B10F952023D6}" destId="{D62CAEA9-9754-4344-A02F-7CDB6EBF3F90}" srcOrd="0" destOrd="0" presId="urn:microsoft.com/office/officeart/2005/8/layout/vList2"/>
    <dgm:cxn modelId="{6C0A76C9-8D23-4E44-9264-2DD3CE431527}" srcId="{43757B38-D628-4C9B-AA8E-912C0E6CCDB2}" destId="{A42C0985-43B4-44BA-AA64-1A29FA3FA96B}" srcOrd="1" destOrd="0" parTransId="{2CF91592-461D-4C29-AA49-334420C1C7B7}" sibTransId="{2672689A-B3DE-47C1-BE6F-40FD7ED22601}"/>
    <dgm:cxn modelId="{C83991CB-598C-4979-98CF-B332190ECEF4}" type="presOf" srcId="{A42C0985-43B4-44BA-AA64-1A29FA3FA96B}" destId="{4670A5FC-A272-476D-99A7-40DF1D54B8B1}" srcOrd="0" destOrd="0" presId="urn:microsoft.com/office/officeart/2005/8/layout/vList2"/>
    <dgm:cxn modelId="{D7393BCD-15D2-48AC-BD98-DDB14E2221FE}" type="presOf" srcId="{67696843-7DD0-4F73-9769-9C549551101E}" destId="{225AE4BE-86BA-437B-BB27-DE7BDED90833}" srcOrd="0" destOrd="0" presId="urn:microsoft.com/office/officeart/2005/8/layout/vList2"/>
    <dgm:cxn modelId="{E366E349-6517-41D7-8B83-3E1A17B94B7D}" type="presParOf" srcId="{FDD1F14F-944D-4190-A0A4-467947FE57E7}" destId="{A874A1EB-159D-4753-845E-AB1DFE689055}" srcOrd="0" destOrd="0" presId="urn:microsoft.com/office/officeart/2005/8/layout/vList2"/>
    <dgm:cxn modelId="{F66F85C4-583B-4B5C-A5A1-4C8363C6FEF5}" type="presParOf" srcId="{FDD1F14F-944D-4190-A0A4-467947FE57E7}" destId="{85B73134-A01D-4127-BBE0-F8316F2E9754}" srcOrd="1" destOrd="0" presId="urn:microsoft.com/office/officeart/2005/8/layout/vList2"/>
    <dgm:cxn modelId="{87B1B3B5-1F82-4C66-A560-1CF0CE165980}" type="presParOf" srcId="{FDD1F14F-944D-4190-A0A4-467947FE57E7}" destId="{4670A5FC-A272-476D-99A7-40DF1D54B8B1}" srcOrd="2" destOrd="0" presId="urn:microsoft.com/office/officeart/2005/8/layout/vList2"/>
    <dgm:cxn modelId="{DC9D7B6A-B819-4569-AD1D-9D72DF40E16A}" type="presParOf" srcId="{FDD1F14F-944D-4190-A0A4-467947FE57E7}" destId="{1BE97155-3C3D-427F-9E16-7C94D721226E}" srcOrd="3" destOrd="0" presId="urn:microsoft.com/office/officeart/2005/8/layout/vList2"/>
    <dgm:cxn modelId="{DAD27E0B-BE03-4670-89DA-15409FD1DF22}" type="presParOf" srcId="{FDD1F14F-944D-4190-A0A4-467947FE57E7}" destId="{225AE4BE-86BA-437B-BB27-DE7BDED90833}" srcOrd="4" destOrd="0" presId="urn:microsoft.com/office/officeart/2005/8/layout/vList2"/>
    <dgm:cxn modelId="{C5200C3E-72B4-40AA-A299-BC8230F47DBC}" type="presParOf" srcId="{FDD1F14F-944D-4190-A0A4-467947FE57E7}" destId="{DDF963B8-3D3D-41A6-AB93-B6E6FB09D85E}" srcOrd="5" destOrd="0" presId="urn:microsoft.com/office/officeart/2005/8/layout/vList2"/>
    <dgm:cxn modelId="{E65420D2-AAFE-48C0-97DF-6D19CAF859AC}" type="presParOf" srcId="{FDD1F14F-944D-4190-A0A4-467947FE57E7}" destId="{27095F72-7218-41DB-854C-969429E636D3}" srcOrd="6" destOrd="0" presId="urn:microsoft.com/office/officeart/2005/8/layout/vList2"/>
    <dgm:cxn modelId="{4A57F07B-74EB-4328-9458-A12A989B88F5}" type="presParOf" srcId="{FDD1F14F-944D-4190-A0A4-467947FE57E7}" destId="{6D5436FE-F71F-4B18-9C48-A30204ED664C}" srcOrd="7" destOrd="0" presId="urn:microsoft.com/office/officeart/2005/8/layout/vList2"/>
    <dgm:cxn modelId="{8FA98327-D2A9-4B23-A4F2-CC080626FE63}" type="presParOf" srcId="{FDD1F14F-944D-4190-A0A4-467947FE57E7}" destId="{D62CAEA9-9754-4344-A02F-7CDB6EBF3F9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6EE94C-4BE1-4A77-95E0-A04B61333C39}">
      <dsp:nvSpPr>
        <dsp:cNvPr id="0" name=""/>
        <dsp:cNvSpPr/>
      </dsp:nvSpPr>
      <dsp:spPr>
        <a:xfrm>
          <a:off x="0" y="128432"/>
          <a:ext cx="7812562" cy="79450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Public benchmark with 12,000+ MCQs.</a:t>
          </a:r>
        </a:p>
      </dsp:txBody>
      <dsp:txXfrm>
        <a:off x="38784" y="167216"/>
        <a:ext cx="7734994" cy="716935"/>
      </dsp:txXfrm>
    </dsp:sp>
    <dsp:sp modelId="{F7263064-3322-491C-AE1B-8DC288C427CA}">
      <dsp:nvSpPr>
        <dsp:cNvPr id="0" name=""/>
        <dsp:cNvSpPr/>
      </dsp:nvSpPr>
      <dsp:spPr>
        <a:xfrm>
          <a:off x="0" y="980535"/>
          <a:ext cx="7812562" cy="794503"/>
        </a:xfrm>
        <a:prstGeom prst="roundRect">
          <a:avLst/>
        </a:prstGeom>
        <a:solidFill>
          <a:schemeClr val="accent5">
            <a:hueOff val="-788934"/>
            <a:satOff val="-433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Covers 14 domains (Law, Physics, Chemistry, Math, etc.)</a:t>
          </a:r>
        </a:p>
      </dsp:txBody>
      <dsp:txXfrm>
        <a:off x="38784" y="1019319"/>
        <a:ext cx="7734994" cy="716935"/>
      </dsp:txXfrm>
    </dsp:sp>
    <dsp:sp modelId="{BD5262CE-9DA6-4223-8BB4-F791544DBA52}">
      <dsp:nvSpPr>
        <dsp:cNvPr id="0" name=""/>
        <dsp:cNvSpPr/>
      </dsp:nvSpPr>
      <dsp:spPr>
        <a:xfrm>
          <a:off x="0" y="1832638"/>
          <a:ext cx="7812562" cy="794503"/>
        </a:xfrm>
        <a:prstGeom prst="roundRect">
          <a:avLst/>
        </a:prstGeom>
        <a:solidFill>
          <a:schemeClr val="accent5">
            <a:hueOff val="-1577868"/>
            <a:satOff val="-866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Each question has a curated gold answer.</a:t>
          </a:r>
        </a:p>
      </dsp:txBody>
      <dsp:txXfrm>
        <a:off x="38784" y="1871422"/>
        <a:ext cx="7734994" cy="716935"/>
      </dsp:txXfrm>
    </dsp:sp>
    <dsp:sp modelId="{9C4C67C1-AB13-4972-AFBB-CC0DD55AF709}">
      <dsp:nvSpPr>
        <dsp:cNvPr id="0" name=""/>
        <dsp:cNvSpPr/>
      </dsp:nvSpPr>
      <dsp:spPr>
        <a:xfrm>
          <a:off x="0" y="2684741"/>
          <a:ext cx="7812562" cy="794503"/>
        </a:xfrm>
        <a:prstGeom prst="roundRect">
          <a:avLst/>
        </a:prstGeom>
        <a:solidFill>
          <a:schemeClr val="accent5">
            <a:hueOff val="-2366803"/>
            <a:satOff val="-13001"/>
            <a:lumOff val="-1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10 answer options per question (vs 4 in MMLU) → much lower random-guess accuracy</a:t>
          </a:r>
        </a:p>
      </dsp:txBody>
      <dsp:txXfrm>
        <a:off x="38784" y="2723525"/>
        <a:ext cx="7734994" cy="716935"/>
      </dsp:txXfrm>
    </dsp:sp>
    <dsp:sp modelId="{FAEB7B86-B715-4A96-81D6-086E49A6B661}">
      <dsp:nvSpPr>
        <dsp:cNvPr id="0" name=""/>
        <dsp:cNvSpPr/>
      </dsp:nvSpPr>
      <dsp:spPr>
        <a:xfrm>
          <a:off x="0" y="3536844"/>
          <a:ext cx="7812562" cy="794503"/>
        </a:xfrm>
        <a:prstGeom prst="roundRect">
          <a:avLst/>
        </a:prstGeom>
        <a:solidFill>
          <a:schemeClr val="accent5">
            <a:hueOff val="-3155737"/>
            <a:satOff val="-17335"/>
            <a:lumOff val="-172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Designed to evaluate LLM reasoning, not just knowledge recall.</a:t>
          </a:r>
        </a:p>
      </dsp:txBody>
      <dsp:txXfrm>
        <a:off x="38784" y="3575628"/>
        <a:ext cx="7734994" cy="716935"/>
      </dsp:txXfrm>
    </dsp:sp>
    <dsp:sp modelId="{7A11DDCE-BADA-4479-9AF1-9634A4395A92}">
      <dsp:nvSpPr>
        <dsp:cNvPr id="0" name=""/>
        <dsp:cNvSpPr/>
      </dsp:nvSpPr>
      <dsp:spPr>
        <a:xfrm>
          <a:off x="0" y="4388947"/>
          <a:ext cx="7812562" cy="794503"/>
        </a:xfrm>
        <a:prstGeom prst="roundRect">
          <a:avLst/>
        </a:prstGeom>
        <a:solidFill>
          <a:schemeClr val="accent5">
            <a:hueOff val="-3944671"/>
            <a:satOff val="-21669"/>
            <a:lumOff val="-215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robust to prompt variation and guessing.</a:t>
          </a:r>
        </a:p>
      </dsp:txBody>
      <dsp:txXfrm>
        <a:off x="38784" y="4427731"/>
        <a:ext cx="7734994" cy="716935"/>
      </dsp:txXfrm>
    </dsp:sp>
    <dsp:sp modelId="{9E60FC7A-4A57-435A-B8F5-7BFB037320DA}">
      <dsp:nvSpPr>
        <dsp:cNvPr id="0" name=""/>
        <dsp:cNvSpPr/>
      </dsp:nvSpPr>
      <dsp:spPr>
        <a:xfrm>
          <a:off x="0" y="5241050"/>
          <a:ext cx="7812562" cy="794503"/>
        </a:xfrm>
        <a:prstGeom prst="roundRect">
          <a:avLst/>
        </a:prstGeom>
        <a:solidFill>
          <a:schemeClr val="accent5">
            <a:hueOff val="-4733605"/>
            <a:satOff val="-26003"/>
            <a:lumOff val="-258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Used in ICE - enables direct performance comparison.</a:t>
          </a:r>
        </a:p>
      </dsp:txBody>
      <dsp:txXfrm>
        <a:off x="38784" y="5279834"/>
        <a:ext cx="7734994" cy="716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2FFF0-6622-4FE6-9C4D-971FCE90A6E3}">
      <dsp:nvSpPr>
        <dsp:cNvPr id="0" name=""/>
        <dsp:cNvSpPr/>
      </dsp:nvSpPr>
      <dsp:spPr>
        <a:xfrm>
          <a:off x="0" y="1001647"/>
          <a:ext cx="7812562" cy="1849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523353-EFFB-44D9-8523-9909D8BB7A0E}">
      <dsp:nvSpPr>
        <dsp:cNvPr id="0" name=""/>
        <dsp:cNvSpPr/>
      </dsp:nvSpPr>
      <dsp:spPr>
        <a:xfrm>
          <a:off x="559381" y="1417716"/>
          <a:ext cx="1017057" cy="10170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5D7EAE-9435-4DE8-8D1A-384E789BE80E}">
      <dsp:nvSpPr>
        <dsp:cNvPr id="0" name=""/>
        <dsp:cNvSpPr/>
      </dsp:nvSpPr>
      <dsp:spPr>
        <a:xfrm>
          <a:off x="2135821" y="1001647"/>
          <a:ext cx="5676740" cy="1849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707" tIns="195707" rIns="195707" bIns="195707" numCol="1" spcCol="1270" anchor="ctr" anchorCtr="0">
          <a:noAutofit/>
        </a:bodyPr>
        <a:lstStyle/>
        <a:p>
          <a:pPr marL="0" lvl="0" indent="0" algn="l" defTabSz="666750">
            <a:lnSpc>
              <a:spcPct val="90000"/>
            </a:lnSpc>
            <a:spcBef>
              <a:spcPct val="0"/>
            </a:spcBef>
            <a:spcAft>
              <a:spcPct val="35000"/>
            </a:spcAft>
            <a:buNone/>
          </a:pPr>
          <a:r>
            <a:rPr lang="en-US" sz="1500" kern="1200"/>
            <a:t>Accuracy alone doesn’t show </a:t>
          </a:r>
          <a:r>
            <a:rPr lang="en-US" sz="1500" i="1" kern="1200"/>
            <a:t>why</a:t>
          </a:r>
          <a:r>
            <a:rPr lang="en-US" sz="1500" kern="1200"/>
            <a:t> models fail.</a:t>
          </a:r>
        </a:p>
      </dsp:txBody>
      <dsp:txXfrm>
        <a:off x="2135821" y="1001647"/>
        <a:ext cx="5676740" cy="1849195"/>
      </dsp:txXfrm>
    </dsp:sp>
    <dsp:sp modelId="{D201A1EA-2019-4E64-A768-3AE06159751C}">
      <dsp:nvSpPr>
        <dsp:cNvPr id="0" name=""/>
        <dsp:cNvSpPr/>
      </dsp:nvSpPr>
      <dsp:spPr>
        <a:xfrm>
          <a:off x="0" y="3313142"/>
          <a:ext cx="7812562" cy="1849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35D2EA-66BA-4020-AD31-F16A9556EEF3}">
      <dsp:nvSpPr>
        <dsp:cNvPr id="0" name=""/>
        <dsp:cNvSpPr/>
      </dsp:nvSpPr>
      <dsp:spPr>
        <a:xfrm>
          <a:off x="559381" y="3729211"/>
          <a:ext cx="1017057" cy="10170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F89211-9A24-4A2F-9654-F3014A60EBE0}">
      <dsp:nvSpPr>
        <dsp:cNvPr id="0" name=""/>
        <dsp:cNvSpPr/>
      </dsp:nvSpPr>
      <dsp:spPr>
        <a:xfrm>
          <a:off x="2135821" y="3313142"/>
          <a:ext cx="5676740" cy="1849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707" tIns="195707" rIns="195707" bIns="195707" numCol="1" spcCol="1270" anchor="ctr" anchorCtr="0">
          <a:noAutofit/>
        </a:bodyPr>
        <a:lstStyle/>
        <a:p>
          <a:pPr marL="0" lvl="0" indent="0" algn="l" defTabSz="666750">
            <a:lnSpc>
              <a:spcPct val="90000"/>
            </a:lnSpc>
            <a:spcBef>
              <a:spcPct val="0"/>
            </a:spcBef>
            <a:spcAft>
              <a:spcPct val="35000"/>
            </a:spcAft>
            <a:buNone/>
          </a:pPr>
          <a:r>
            <a:rPr lang="en-US" sz="1500" kern="1200"/>
            <a:t>We manually inspect a subset of responses to analyze:</a:t>
          </a:r>
          <a:br>
            <a:rPr lang="en-US" sz="1500" kern="1200"/>
          </a:br>
          <a:br>
            <a:rPr lang="en-US" sz="1500" kern="1200"/>
          </a:br>
          <a:r>
            <a:rPr lang="en-US" sz="1500" kern="1200"/>
            <a:t>a) Reasoning quality across collaboration rounds</a:t>
          </a:r>
          <a:br>
            <a:rPr lang="en-US" sz="1500" kern="1200"/>
          </a:br>
          <a:br>
            <a:rPr lang="en-US" sz="1500" kern="1200"/>
          </a:br>
          <a:r>
            <a:rPr lang="en-US" sz="1500" kern="1200"/>
            <a:t>b) </a:t>
          </a:r>
          <a:r>
            <a:rPr lang="en-IN" sz="1500" kern="1200"/>
            <a:t>Error patterns (hallucination, overconfidence, conformity)</a:t>
          </a:r>
          <a:br>
            <a:rPr lang="en-IN" sz="1500" kern="1200"/>
          </a:br>
          <a:br>
            <a:rPr lang="en-IN" sz="1500" kern="1200"/>
          </a:br>
          <a:r>
            <a:rPr lang="en-IN" sz="1500" kern="1200"/>
            <a:t>c) </a:t>
          </a:r>
          <a:r>
            <a:rPr lang="en-US" sz="1500" kern="1200"/>
            <a:t>Whether blinding reduces confident wrong consensus</a:t>
          </a:r>
        </a:p>
      </dsp:txBody>
      <dsp:txXfrm>
        <a:off x="2135821" y="3313142"/>
        <a:ext cx="5676740" cy="18491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18DF0-C271-40C6-A66C-7DB2C8E108C3}">
      <dsp:nvSpPr>
        <dsp:cNvPr id="0" name=""/>
        <dsp:cNvSpPr/>
      </dsp:nvSpPr>
      <dsp:spPr>
        <a:xfrm>
          <a:off x="8364" y="0"/>
          <a:ext cx="5938661" cy="3342048"/>
        </a:xfrm>
        <a:prstGeom prst="homePlate">
          <a:avLst>
            <a:gd name="adj" fmla="val 2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03" tIns="48260" rIns="838011" bIns="48260" numCol="1" spcCol="1270" anchor="ctr" anchorCtr="0">
          <a:noAutofit/>
        </a:bodyPr>
        <a:lstStyle/>
        <a:p>
          <a:pPr marL="0" lvl="0" indent="0" algn="ctr" defTabSz="844550">
            <a:lnSpc>
              <a:spcPct val="90000"/>
            </a:lnSpc>
            <a:spcBef>
              <a:spcPct val="0"/>
            </a:spcBef>
            <a:spcAft>
              <a:spcPct val="35000"/>
            </a:spcAft>
            <a:buNone/>
          </a:pPr>
          <a:r>
            <a:rPr lang="en-CA" sz="1900" kern="1200"/>
            <a:t>Premise: 3 models (A, B, and C) solve a problem iteratively through rounds.</a:t>
          </a:r>
          <a:endParaRPr lang="en-US" sz="1900" kern="1200"/>
        </a:p>
      </dsp:txBody>
      <dsp:txXfrm>
        <a:off x="8364" y="0"/>
        <a:ext cx="5520905" cy="3342048"/>
      </dsp:txXfrm>
    </dsp:sp>
    <dsp:sp modelId="{4BEC2E80-1586-4807-91EB-3A5B73B41CF7}">
      <dsp:nvSpPr>
        <dsp:cNvPr id="0" name=""/>
        <dsp:cNvSpPr/>
      </dsp:nvSpPr>
      <dsp:spPr>
        <a:xfrm>
          <a:off x="4759293" y="0"/>
          <a:ext cx="5938661" cy="3342048"/>
        </a:xfrm>
        <a:prstGeom prst="chevron">
          <a:avLst>
            <a:gd name="adj" fmla="val 25000"/>
          </a:avLst>
        </a:prstGeom>
        <a:solidFill>
          <a:schemeClr val="accent5">
            <a:hueOff val="-4733605"/>
            <a:satOff val="-26003"/>
            <a:lumOff val="-258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03" tIns="48260" rIns="209503" bIns="48260" numCol="1" spcCol="1270" anchor="t" anchorCtr="0">
          <a:noAutofit/>
        </a:bodyPr>
        <a:lstStyle/>
        <a:p>
          <a:pPr marL="0" lvl="0" indent="0" algn="l" defTabSz="844550">
            <a:lnSpc>
              <a:spcPct val="90000"/>
            </a:lnSpc>
            <a:spcBef>
              <a:spcPct val="0"/>
            </a:spcBef>
            <a:spcAft>
              <a:spcPct val="35000"/>
            </a:spcAft>
            <a:buNone/>
          </a:pPr>
          <a:r>
            <a:rPr lang="en-CA" sz="1900" kern="1200"/>
            <a:t>Anatomy of a round:</a:t>
          </a:r>
          <a:endParaRPr lang="en-US" sz="1900" kern="1200"/>
        </a:p>
        <a:p>
          <a:pPr marL="114300" lvl="1" indent="-114300" algn="l" defTabSz="666750">
            <a:lnSpc>
              <a:spcPct val="90000"/>
            </a:lnSpc>
            <a:spcBef>
              <a:spcPct val="0"/>
            </a:spcBef>
            <a:spcAft>
              <a:spcPct val="15000"/>
            </a:spcAft>
            <a:buChar char="•"/>
          </a:pPr>
          <a:r>
            <a:rPr lang="en-US" sz="1500" kern="1200"/>
            <a:t>(First round only) Model A receives a question and generates an answer.</a:t>
          </a:r>
        </a:p>
        <a:p>
          <a:pPr marL="114300" lvl="1" indent="-114300" algn="l" defTabSz="666750">
            <a:lnSpc>
              <a:spcPct val="90000"/>
            </a:lnSpc>
            <a:spcBef>
              <a:spcPct val="0"/>
            </a:spcBef>
            <a:spcAft>
              <a:spcPct val="15000"/>
            </a:spcAft>
            <a:buChar char="•"/>
          </a:pPr>
          <a:r>
            <a:rPr lang="en-US" sz="1500" kern="1200" dirty="0"/>
            <a:t>Model B receives the question and model A’s answer, and generates a score for the answer, and a revised answer.</a:t>
          </a:r>
        </a:p>
        <a:p>
          <a:pPr marL="114300" lvl="1" indent="-114300" algn="l" defTabSz="666750">
            <a:lnSpc>
              <a:spcPct val="90000"/>
            </a:lnSpc>
            <a:spcBef>
              <a:spcPct val="0"/>
            </a:spcBef>
            <a:spcAft>
              <a:spcPct val="15000"/>
            </a:spcAft>
            <a:buChar char="•"/>
          </a:pPr>
          <a:r>
            <a:rPr lang="en-US" sz="1500" kern="1200"/>
            <a:t>Model C receives model B’s answer and generates a score &amp; revision</a:t>
          </a:r>
        </a:p>
        <a:p>
          <a:pPr marL="114300" lvl="1" indent="-114300" algn="l" defTabSz="666750">
            <a:lnSpc>
              <a:spcPct val="90000"/>
            </a:lnSpc>
            <a:spcBef>
              <a:spcPct val="0"/>
            </a:spcBef>
            <a:spcAft>
              <a:spcPct val="15000"/>
            </a:spcAft>
            <a:buChar char="•"/>
          </a:pPr>
          <a:r>
            <a:rPr lang="en-US" sz="1500" kern="1200"/>
            <a:t>Model A receives model C’s answer and generates a score &amp; revision</a:t>
          </a:r>
        </a:p>
        <a:p>
          <a:pPr marL="114300" lvl="1" indent="-114300" algn="l" defTabSz="666750">
            <a:lnSpc>
              <a:spcPct val="90000"/>
            </a:lnSpc>
            <a:spcBef>
              <a:spcPct val="0"/>
            </a:spcBef>
            <a:spcAft>
              <a:spcPct val="15000"/>
            </a:spcAft>
            <a:buChar char="•"/>
          </a:pPr>
          <a:r>
            <a:rPr lang="en-US" sz="1500" kern="1200"/>
            <a:t>Repeat, calculating Central Hub Variance for the last 3 scores each response (not each round).</a:t>
          </a:r>
        </a:p>
      </dsp:txBody>
      <dsp:txXfrm>
        <a:off x="5594805" y="0"/>
        <a:ext cx="4267637" cy="33420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4A1EB-159D-4753-845E-AB1DFE689055}">
      <dsp:nvSpPr>
        <dsp:cNvPr id="0" name=""/>
        <dsp:cNvSpPr/>
      </dsp:nvSpPr>
      <dsp:spPr>
        <a:xfrm>
          <a:off x="0" y="37371"/>
          <a:ext cx="6831118" cy="114864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Strong MMLU-PRO accuracy competitive with the documented ICE framework accuracy of 72.1%.</a:t>
          </a:r>
        </a:p>
      </dsp:txBody>
      <dsp:txXfrm>
        <a:off x="56072" y="93443"/>
        <a:ext cx="6718974" cy="1036503"/>
      </dsp:txXfrm>
    </dsp:sp>
    <dsp:sp modelId="{4670A5FC-A272-476D-99A7-40DF1D54B8B1}">
      <dsp:nvSpPr>
        <dsp:cNvPr id="0" name=""/>
        <dsp:cNvSpPr/>
      </dsp:nvSpPr>
      <dsp:spPr>
        <a:xfrm>
          <a:off x="0" y="1246499"/>
          <a:ext cx="6831118" cy="1148647"/>
        </a:xfrm>
        <a:prstGeom prst="roundRect">
          <a:avLst/>
        </a:prstGeom>
        <a:solidFill>
          <a:schemeClr val="accent2">
            <a:hueOff val="-824553"/>
            <a:satOff val="-626"/>
            <a:lumOff val="-6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Strong MMLU-PRO accuracy competitive with similar open-source ensemble frameworks.</a:t>
          </a:r>
        </a:p>
      </dsp:txBody>
      <dsp:txXfrm>
        <a:off x="56072" y="1302571"/>
        <a:ext cx="6718974" cy="1036503"/>
      </dsp:txXfrm>
    </dsp:sp>
    <dsp:sp modelId="{225AE4BE-86BA-437B-BB27-DE7BDED90833}">
      <dsp:nvSpPr>
        <dsp:cNvPr id="0" name=""/>
        <dsp:cNvSpPr/>
      </dsp:nvSpPr>
      <dsp:spPr>
        <a:xfrm>
          <a:off x="0" y="2455626"/>
          <a:ext cx="6831118" cy="1148647"/>
        </a:xfrm>
        <a:prstGeom prst="roundRect">
          <a:avLst/>
        </a:prstGeom>
        <a:solidFill>
          <a:schemeClr val="accent2">
            <a:hueOff val="-1649105"/>
            <a:satOff val="-1252"/>
            <a:lumOff val="-12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Consistent accuracy performance above the independent performance of the constituent models.</a:t>
          </a:r>
        </a:p>
      </dsp:txBody>
      <dsp:txXfrm>
        <a:off x="56072" y="2511698"/>
        <a:ext cx="6718974" cy="1036503"/>
      </dsp:txXfrm>
    </dsp:sp>
    <dsp:sp modelId="{27095F72-7218-41DB-854C-969429E636D3}">
      <dsp:nvSpPr>
        <dsp:cNvPr id="0" name=""/>
        <dsp:cNvSpPr/>
      </dsp:nvSpPr>
      <dsp:spPr>
        <a:xfrm>
          <a:off x="0" y="3664754"/>
          <a:ext cx="6831118" cy="1148647"/>
        </a:xfrm>
        <a:prstGeom prst="roundRect">
          <a:avLst/>
        </a:prstGeom>
        <a:solidFill>
          <a:schemeClr val="accent2">
            <a:hueOff val="-2473658"/>
            <a:satOff val="-1877"/>
            <a:lumOff val="-19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Token count economy at or below similar ensemble approaches.</a:t>
          </a:r>
        </a:p>
      </dsp:txBody>
      <dsp:txXfrm>
        <a:off x="56072" y="3720826"/>
        <a:ext cx="6718974" cy="1036503"/>
      </dsp:txXfrm>
    </dsp:sp>
    <dsp:sp modelId="{D62CAEA9-9754-4344-A02F-7CDB6EBF3F90}">
      <dsp:nvSpPr>
        <dsp:cNvPr id="0" name=""/>
        <dsp:cNvSpPr/>
      </dsp:nvSpPr>
      <dsp:spPr>
        <a:xfrm>
          <a:off x="0" y="4873881"/>
          <a:ext cx="6831118" cy="1148647"/>
        </a:xfrm>
        <a:prstGeom prst="roundRect">
          <a:avLst/>
        </a:prstGeom>
        <a:solidFill>
          <a:schemeClr val="accent2">
            <a:hueOff val="-3298210"/>
            <a:satOff val="-2503"/>
            <a:lumOff val="-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Confidence scoring mechanism that can be used to effectively assess the quality and value of the ensemble response.</a:t>
          </a:r>
        </a:p>
      </dsp:txBody>
      <dsp:txXfrm>
        <a:off x="56072" y="4929953"/>
        <a:ext cx="6718974" cy="103650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A72BA-EE5A-40B5-B387-D288D22356CA}" type="datetimeFigureOut">
              <a:rPr lang="en-CA" smtClean="0"/>
              <a:t>2026-02-23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7740DF-022A-4E68-8983-10B0D7607825}" type="slidenum">
              <a:rPr lang="en-CA" smtClean="0"/>
              <a:t>‹#›</a:t>
            </a:fld>
            <a:endParaRPr lang="en-CA"/>
          </a:p>
        </p:txBody>
      </p:sp>
    </p:spTree>
    <p:extLst>
      <p:ext uri="{BB962C8B-B14F-4D97-AF65-F5344CB8AC3E}">
        <p14:creationId xmlns:p14="http://schemas.microsoft.com/office/powerpoint/2010/main" val="1682654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C9C70C-8D59-4F50-987B-BEEA4F610060}" type="slidenum">
              <a:rPr lang="en-IN" smtClean="0"/>
              <a:t>1</a:t>
            </a:fld>
            <a:endParaRPr lang="en-IN"/>
          </a:p>
        </p:txBody>
      </p:sp>
    </p:spTree>
    <p:extLst>
      <p:ext uri="{BB962C8B-B14F-4D97-AF65-F5344CB8AC3E}">
        <p14:creationId xmlns:p14="http://schemas.microsoft.com/office/powerpoint/2010/main" val="1846947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collaboration is a popular test-time scaling approach: multiple LLM agents propose answers, critique each other, and move toward a consensus. Many studies show this improves accuracy.</a:t>
            </a:r>
          </a:p>
          <a:p>
            <a:r>
              <a:rPr lang="en-US" dirty="0"/>
              <a:t>However, collaboration isn’t always beneficial. When agents see each other’s rationales or strong opinions, they can conform instead of reasoning independently. This can create social conformity and sycophancy, and sometimes even reduce performance by producing a confident consensus that’s still wrong.</a:t>
            </a:r>
          </a:p>
          <a:p>
            <a:r>
              <a:rPr lang="en-US" dirty="0"/>
              <a:t>So the problem is reliability under information sharing: fully open collaboration may amplify social influence failures that aren’t captured by accuracy alone.</a:t>
            </a:r>
          </a:p>
          <a:p>
            <a:r>
              <a:rPr lang="en-US" dirty="0"/>
              <a:t>Our idea is to introduce a blinded collaboration framework that restricts what agents share, aiming to keep diversity and independence while still benefiting from collaboration.</a:t>
            </a:r>
          </a:p>
          <a:p>
            <a:r>
              <a:rPr lang="en-US" dirty="0"/>
              <a:t>Our core question is: Can restricted collaboration match or even outperform fully open collaboration?</a:t>
            </a:r>
          </a:p>
          <a:p>
            <a:endParaRPr lang="en-CA" dirty="0"/>
          </a:p>
        </p:txBody>
      </p:sp>
      <p:sp>
        <p:nvSpPr>
          <p:cNvPr id="4" name="Slide Number Placeholder 3"/>
          <p:cNvSpPr>
            <a:spLocks noGrp="1"/>
          </p:cNvSpPr>
          <p:nvPr>
            <p:ph type="sldNum" sz="quarter" idx="5"/>
          </p:nvPr>
        </p:nvSpPr>
        <p:spPr/>
        <p:txBody>
          <a:bodyPr/>
          <a:lstStyle/>
          <a:p>
            <a:fld id="{5B7740DF-022A-4E68-8983-10B0D7607825}" type="slidenum">
              <a:rPr lang="en-CA" smtClean="0"/>
              <a:t>2</a:t>
            </a:fld>
            <a:endParaRPr lang="en-CA"/>
          </a:p>
        </p:txBody>
      </p:sp>
    </p:spTree>
    <p:extLst>
      <p:ext uri="{BB962C8B-B14F-4D97-AF65-F5344CB8AC3E}">
        <p14:creationId xmlns:p14="http://schemas.microsoft.com/office/powerpoint/2010/main" val="847055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latin typeface="+mn-lt"/>
                <a:ea typeface="+mn-ea"/>
                <a:cs typeface="+mn-cs"/>
              </a:rPr>
              <a:t>The literature related to our study can be divided into two strands.</a:t>
            </a:r>
            <a:br>
              <a:rPr lang="en-CA" sz="1200" kern="1200" dirty="0">
                <a:solidFill>
                  <a:schemeClr val="tx1"/>
                </a:solidFill>
                <a:latin typeface="+mn-lt"/>
                <a:ea typeface="+mn-ea"/>
                <a:cs typeface="+mn-cs"/>
              </a:rPr>
            </a:br>
            <a:r>
              <a:rPr lang="en-CA" sz="1200" kern="1200" dirty="0">
                <a:solidFill>
                  <a:schemeClr val="tx1"/>
                </a:solidFill>
                <a:latin typeface="+mn-lt"/>
                <a:ea typeface="+mn-ea"/>
                <a:cs typeface="+mn-cs"/>
              </a:rPr>
              <a:t>First, some studies show that multi-agent collaboration helps models converge in a way that improves reasoning accuracy. Second, other studies show that collaboration can induce social conformity and sycophancy, where models converge by “peer pressure” rather than evidence.</a:t>
            </a:r>
          </a:p>
          <a:p>
            <a:r>
              <a:rPr lang="en-CA" sz="1200" kern="1200" dirty="0">
                <a:solidFill>
                  <a:schemeClr val="tx1"/>
                </a:solidFill>
                <a:latin typeface="+mn-lt"/>
                <a:ea typeface="+mn-ea"/>
                <a:cs typeface="+mn-cs"/>
              </a:rPr>
              <a:t>On the positive side, methods like RECONCILE and ICE (at a high level) allow agents to see other agents’ answers and reasoning, then discuss or iteratively refine their own responses. These works report higher scores compared to single-agent, inference-time baselines.</a:t>
            </a:r>
          </a:p>
          <a:p>
            <a:r>
              <a:rPr lang="en-CA" sz="1200" kern="1200" dirty="0">
                <a:solidFill>
                  <a:schemeClr val="tx1"/>
                </a:solidFill>
                <a:latin typeface="+mn-lt"/>
                <a:ea typeface="+mn-ea"/>
                <a:cs typeface="+mn-cs"/>
              </a:rPr>
              <a:t>On the risk side, studies like “Talk Isn’t Always Cheap” show that collaboration can backfire: during discussion rounds, models sometimes switch from a correct answer to an incorrect one, consistent with conformity or sycophancy effects.</a:t>
            </a:r>
          </a:p>
          <a:p>
            <a:r>
              <a:rPr lang="en-CA" sz="1200" kern="1200" dirty="0">
                <a:solidFill>
                  <a:schemeClr val="tx1"/>
                </a:solidFill>
                <a:latin typeface="+mn-lt"/>
                <a:ea typeface="+mn-ea"/>
                <a:cs typeface="+mn-cs"/>
              </a:rPr>
              <a:t>Motivated by this tension, we propose a new test-time scaling framework and ask:</a:t>
            </a:r>
            <a:br>
              <a:rPr lang="en-CA" sz="1200" kern="1200" dirty="0">
                <a:solidFill>
                  <a:schemeClr val="tx1"/>
                </a:solidFill>
                <a:latin typeface="+mn-lt"/>
                <a:ea typeface="+mn-ea"/>
                <a:cs typeface="+mn-cs"/>
              </a:rPr>
            </a:br>
            <a:r>
              <a:rPr lang="en-CA" sz="1200" kern="1200" dirty="0">
                <a:solidFill>
                  <a:schemeClr val="tx1"/>
                </a:solidFill>
                <a:latin typeface="+mn-lt"/>
                <a:ea typeface="+mn-ea"/>
                <a:cs typeface="+mn-cs"/>
              </a:rPr>
              <a:t>If we restrict what agents share during collaboration, can we outperform fully open collaboration?</a:t>
            </a:r>
          </a:p>
          <a:p>
            <a:endParaRPr lang="en-CA" dirty="0"/>
          </a:p>
        </p:txBody>
      </p:sp>
      <p:sp>
        <p:nvSpPr>
          <p:cNvPr id="4" name="Slide Number Placeholder 3"/>
          <p:cNvSpPr>
            <a:spLocks noGrp="1"/>
          </p:cNvSpPr>
          <p:nvPr>
            <p:ph type="sldNum" sz="quarter" idx="5"/>
          </p:nvPr>
        </p:nvSpPr>
        <p:spPr/>
        <p:txBody>
          <a:bodyPr/>
          <a:lstStyle/>
          <a:p>
            <a:fld id="{5B7740DF-022A-4E68-8983-10B0D7607825}" type="slidenum">
              <a:rPr lang="en-CA" smtClean="0"/>
              <a:t>3</a:t>
            </a:fld>
            <a:endParaRPr lang="en-CA"/>
          </a:p>
        </p:txBody>
      </p:sp>
    </p:spTree>
    <p:extLst>
      <p:ext uri="{BB962C8B-B14F-4D97-AF65-F5344CB8AC3E}">
        <p14:creationId xmlns:p14="http://schemas.microsoft.com/office/powerpoint/2010/main" val="4079911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A924-B08C-9B1D-9E16-730DD5EA3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C4F1-DD37-2914-B5F3-4C52FB62E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A74DC-E346-0503-9C2C-91DD390C4543}"/>
              </a:ext>
            </a:extLst>
          </p:cNvPr>
          <p:cNvSpPr>
            <a:spLocks noGrp="1"/>
          </p:cNvSpPr>
          <p:nvPr>
            <p:ph type="body" idx="1"/>
          </p:nvPr>
        </p:nvSpPr>
        <p:spPr/>
        <p:txBody>
          <a:bodyPr/>
          <a:lstStyle/>
          <a:p>
            <a:r>
              <a:rPr lang="en-US" b="1" dirty="0"/>
              <a:t>Why MMLU-Pro is a Good Fit</a:t>
            </a:r>
          </a:p>
          <a:p>
            <a:r>
              <a:rPr lang="en-US" b="0" dirty="0"/>
              <a:t>Requires multi-step reasoning, not surface pattern matching</a:t>
            </a:r>
          </a:p>
          <a:p>
            <a:r>
              <a:rPr lang="en-US" b="0" dirty="0"/>
              <a:t>Large + diverse → allows domain-level analysis</a:t>
            </a:r>
          </a:p>
          <a:p>
            <a:r>
              <a:rPr lang="en-US" b="0" dirty="0"/>
              <a:t>MCQ format → clean accuracy measurement</a:t>
            </a:r>
          </a:p>
          <a:p>
            <a:r>
              <a:rPr lang="en-US" b="0" dirty="0"/>
              <a:t>Common benchmark in multi-agent LLM research</a:t>
            </a:r>
          </a:p>
          <a:p>
            <a:r>
              <a:rPr lang="en-US" b="0" dirty="0"/>
              <a:t>Aligns with our goal:</a:t>
            </a:r>
            <a:br>
              <a:rPr lang="en-US" b="0" dirty="0"/>
            </a:br>
            <a:r>
              <a:rPr lang="en-US" b="0" dirty="0"/>
              <a:t>→ testing blinded vs open collaboration under realistic reasoning tasks</a:t>
            </a:r>
          </a:p>
          <a:p>
            <a:endParaRPr lang="en-US" b="0" dirty="0"/>
          </a:p>
          <a:p>
            <a:r>
              <a:rPr lang="en-US" dirty="0"/>
              <a:t>MMLU-Pro because it’s a harder and more reasoning-focused benchmark. It expands each question to 10 options instead of 4, which lowers random guessing and better tests whether collaboration improves reasoning.</a:t>
            </a:r>
            <a:endParaRPr lang="en-US" b="0" dirty="0"/>
          </a:p>
          <a:p>
            <a:endParaRPr lang="en-IN" dirty="0"/>
          </a:p>
        </p:txBody>
      </p:sp>
      <p:sp>
        <p:nvSpPr>
          <p:cNvPr id="4" name="Slide Number Placeholder 3">
            <a:extLst>
              <a:ext uri="{FF2B5EF4-FFF2-40B4-BE49-F238E27FC236}">
                <a16:creationId xmlns:a16="http://schemas.microsoft.com/office/drawing/2014/main" id="{0A93A709-832D-C284-79AD-58B368C44F5A}"/>
              </a:ext>
            </a:extLst>
          </p:cNvPr>
          <p:cNvSpPr>
            <a:spLocks noGrp="1"/>
          </p:cNvSpPr>
          <p:nvPr>
            <p:ph type="sldNum" sz="quarter" idx="5"/>
          </p:nvPr>
        </p:nvSpPr>
        <p:spPr/>
        <p:txBody>
          <a:bodyPr/>
          <a:lstStyle/>
          <a:p>
            <a:fld id="{7BC9C70C-8D59-4F50-987B-BEEA4F610060}" type="slidenum">
              <a:rPr lang="en-IN" smtClean="0"/>
              <a:t>4</a:t>
            </a:fld>
            <a:endParaRPr lang="en-IN"/>
          </a:p>
        </p:txBody>
      </p:sp>
    </p:spTree>
    <p:extLst>
      <p:ext uri="{BB962C8B-B14F-4D97-AF65-F5344CB8AC3E}">
        <p14:creationId xmlns:p14="http://schemas.microsoft.com/office/powerpoint/2010/main" val="16659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MMLU-Pro is a Good Fit</a:t>
            </a:r>
          </a:p>
          <a:p>
            <a:r>
              <a:rPr lang="en-US" b="0" dirty="0"/>
              <a:t>Requires multi-step reasoning, not surface pattern matching</a:t>
            </a:r>
          </a:p>
          <a:p>
            <a:r>
              <a:rPr lang="en-US" b="0" dirty="0"/>
              <a:t>Large + diverse → allows domain-level analysis</a:t>
            </a:r>
          </a:p>
          <a:p>
            <a:r>
              <a:rPr lang="en-US" b="0" dirty="0"/>
              <a:t>MCQ format → clean accuracy measurement</a:t>
            </a:r>
          </a:p>
          <a:p>
            <a:r>
              <a:rPr lang="en-US" b="0" dirty="0"/>
              <a:t>Common benchmark in multi-agent LLM research</a:t>
            </a:r>
          </a:p>
          <a:p>
            <a:r>
              <a:rPr lang="en-US" b="0" dirty="0"/>
              <a:t>Aligns with our goal:</a:t>
            </a:r>
            <a:br>
              <a:rPr lang="en-US" b="0" dirty="0"/>
            </a:br>
            <a:r>
              <a:rPr lang="en-US" b="0" dirty="0"/>
              <a:t>→ testing blinded vs open collaboration under realistic reasoning tasks</a:t>
            </a:r>
          </a:p>
          <a:p>
            <a:endParaRPr lang="en-IN" dirty="0"/>
          </a:p>
        </p:txBody>
      </p:sp>
      <p:sp>
        <p:nvSpPr>
          <p:cNvPr id="4" name="Slide Number Placeholder 3"/>
          <p:cNvSpPr>
            <a:spLocks noGrp="1"/>
          </p:cNvSpPr>
          <p:nvPr>
            <p:ph type="sldNum" sz="quarter" idx="5"/>
          </p:nvPr>
        </p:nvSpPr>
        <p:spPr/>
        <p:txBody>
          <a:bodyPr/>
          <a:lstStyle/>
          <a:p>
            <a:fld id="{7BC9C70C-8D59-4F50-987B-BEEA4F610060}" type="slidenum">
              <a:rPr lang="en-IN" smtClean="0"/>
              <a:t>5</a:t>
            </a:fld>
            <a:endParaRPr lang="en-IN"/>
          </a:p>
        </p:txBody>
      </p:sp>
    </p:spTree>
    <p:extLst>
      <p:ext uri="{BB962C8B-B14F-4D97-AF65-F5344CB8AC3E}">
        <p14:creationId xmlns:p14="http://schemas.microsoft.com/office/powerpoint/2010/main" val="234894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08FCA-A173-4DEA-B008-AA66EDC0B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7083A-83F4-0AC4-8C38-946FC9014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8435A-22D8-209C-2A00-E81D7CFA87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C111277-B587-BF03-E6C4-5F795820F89A}"/>
              </a:ext>
            </a:extLst>
          </p:cNvPr>
          <p:cNvSpPr>
            <a:spLocks noGrp="1"/>
          </p:cNvSpPr>
          <p:nvPr>
            <p:ph type="sldNum" sz="quarter" idx="5"/>
          </p:nvPr>
        </p:nvSpPr>
        <p:spPr/>
        <p:txBody>
          <a:bodyPr/>
          <a:lstStyle/>
          <a:p>
            <a:fld id="{7BC9C70C-8D59-4F50-987B-BEEA4F610060}" type="slidenum">
              <a:rPr lang="en-IN" smtClean="0"/>
              <a:t>6</a:t>
            </a:fld>
            <a:endParaRPr lang="en-IN"/>
          </a:p>
        </p:txBody>
      </p:sp>
    </p:spTree>
    <p:extLst>
      <p:ext uri="{BB962C8B-B14F-4D97-AF65-F5344CB8AC3E}">
        <p14:creationId xmlns:p14="http://schemas.microsoft.com/office/powerpoint/2010/main" val="1646616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7615F-77F4-00EC-1327-F429B0778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7E17C-48B4-18C8-B007-58A9993E27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ACDF8A-2640-996B-1436-68A9BEE03B2A}"/>
              </a:ext>
            </a:extLst>
          </p:cNvPr>
          <p:cNvSpPr>
            <a:spLocks noGrp="1"/>
          </p:cNvSpPr>
          <p:nvPr>
            <p:ph type="body" idx="1"/>
          </p:nvPr>
        </p:nvSpPr>
        <p:spPr/>
        <p:txBody>
          <a:bodyPr/>
          <a:lstStyle/>
          <a:p>
            <a:r>
              <a:rPr lang="en-US" dirty="0"/>
              <a:t>Helps us understand:</a:t>
            </a:r>
          </a:p>
          <a:p>
            <a:r>
              <a:rPr lang="en-US" i="1" dirty="0"/>
              <a:t>How</a:t>
            </a:r>
            <a:r>
              <a:rPr lang="en-US" dirty="0"/>
              <a:t> V-</a:t>
            </a:r>
            <a:r>
              <a:rPr lang="en-US" dirty="0" err="1"/>
              <a:t>BReE</a:t>
            </a:r>
            <a:r>
              <a:rPr lang="en-US" dirty="0"/>
              <a:t> changes reasoning</a:t>
            </a:r>
          </a:p>
          <a:p>
            <a:r>
              <a:rPr lang="en-US" i="1" dirty="0"/>
              <a:t>Where</a:t>
            </a:r>
            <a:r>
              <a:rPr lang="en-US" dirty="0"/>
              <a:t> it helps or fails</a:t>
            </a:r>
          </a:p>
          <a:p>
            <a:r>
              <a:rPr lang="en-US" dirty="0"/>
              <a:t>What to improve next</a:t>
            </a:r>
          </a:p>
          <a:p>
            <a:endParaRPr lang="en-IN" dirty="0"/>
          </a:p>
        </p:txBody>
      </p:sp>
      <p:sp>
        <p:nvSpPr>
          <p:cNvPr id="4" name="Slide Number Placeholder 3">
            <a:extLst>
              <a:ext uri="{FF2B5EF4-FFF2-40B4-BE49-F238E27FC236}">
                <a16:creationId xmlns:a16="http://schemas.microsoft.com/office/drawing/2014/main" id="{FFB3F66F-83D9-9F51-20C2-0626F3441EBE}"/>
              </a:ext>
            </a:extLst>
          </p:cNvPr>
          <p:cNvSpPr>
            <a:spLocks noGrp="1"/>
          </p:cNvSpPr>
          <p:nvPr>
            <p:ph type="sldNum" sz="quarter" idx="5"/>
          </p:nvPr>
        </p:nvSpPr>
        <p:spPr/>
        <p:txBody>
          <a:bodyPr/>
          <a:lstStyle/>
          <a:p>
            <a:fld id="{7BC9C70C-8D59-4F50-987B-BEEA4F610060}" type="slidenum">
              <a:rPr lang="en-IN" smtClean="0"/>
              <a:t>7</a:t>
            </a:fld>
            <a:endParaRPr lang="en-IN"/>
          </a:p>
        </p:txBody>
      </p:sp>
    </p:spTree>
    <p:extLst>
      <p:ext uri="{BB962C8B-B14F-4D97-AF65-F5344CB8AC3E}">
        <p14:creationId xmlns:p14="http://schemas.microsoft.com/office/powerpoint/2010/main" val="1400378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B7740DF-022A-4E68-8983-10B0D7607825}" type="slidenum">
              <a:rPr lang="en-CA" smtClean="0"/>
              <a:t>8</a:t>
            </a:fld>
            <a:endParaRPr lang="en-CA"/>
          </a:p>
        </p:txBody>
      </p:sp>
    </p:spTree>
    <p:extLst>
      <p:ext uri="{BB962C8B-B14F-4D97-AF65-F5344CB8AC3E}">
        <p14:creationId xmlns:p14="http://schemas.microsoft.com/office/powerpoint/2010/main" val="2535060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is Blinded Refinement? It is a method of iterative improvement on a model’s answer. It is blinded because models can only see the current revision handed to them – they are blinded to all other context outside of the question being answered. It is refinement because the task is to revise and refine the answer before handing it off to the next model.</a:t>
            </a:r>
          </a:p>
        </p:txBody>
      </p:sp>
      <p:sp>
        <p:nvSpPr>
          <p:cNvPr id="4" name="Slide Number Placeholder 3"/>
          <p:cNvSpPr>
            <a:spLocks noGrp="1"/>
          </p:cNvSpPr>
          <p:nvPr>
            <p:ph type="sldNum" sz="quarter" idx="5"/>
          </p:nvPr>
        </p:nvSpPr>
        <p:spPr/>
        <p:txBody>
          <a:bodyPr/>
          <a:lstStyle/>
          <a:p>
            <a:fld id="{000EA624-5CA5-47FC-9033-00AE7487E531}" type="slidenum">
              <a:rPr lang="en-US" smtClean="0"/>
              <a:t>9</a:t>
            </a:fld>
            <a:endParaRPr lang="en-US"/>
          </a:p>
        </p:txBody>
      </p:sp>
    </p:spTree>
    <p:extLst>
      <p:ext uri="{BB962C8B-B14F-4D97-AF65-F5344CB8AC3E}">
        <p14:creationId xmlns:p14="http://schemas.microsoft.com/office/powerpoint/2010/main" val="1121611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C-final: final “confidence score” (do not mistake this as having anything to do with confidence intervals, or confidence as a statistical concept).</a:t>
            </a:r>
          </a:p>
          <a:p>
            <a:r>
              <a:rPr lang="en-CA" dirty="0"/>
              <a:t>μ-S-best: mean score of the best variance round.</a:t>
            </a:r>
          </a:p>
          <a:p>
            <a:r>
              <a:rPr lang="en-US" dirty="0"/>
              <a:t>σ²-min: </a:t>
            </a:r>
            <a:r>
              <a:rPr lang="en-US" b="0" dirty="0"/>
              <a:t>lowest variance round</a:t>
            </a:r>
          </a:p>
        </p:txBody>
      </p:sp>
      <p:sp>
        <p:nvSpPr>
          <p:cNvPr id="4" name="Slide Number Placeholder 3"/>
          <p:cNvSpPr>
            <a:spLocks noGrp="1"/>
          </p:cNvSpPr>
          <p:nvPr>
            <p:ph type="sldNum" sz="quarter" idx="5"/>
          </p:nvPr>
        </p:nvSpPr>
        <p:spPr/>
        <p:txBody>
          <a:bodyPr/>
          <a:lstStyle/>
          <a:p>
            <a:fld id="{000EA624-5CA5-47FC-9033-00AE7487E531}" type="slidenum">
              <a:rPr lang="en-US" smtClean="0"/>
              <a:t>10</a:t>
            </a:fld>
            <a:endParaRPr lang="en-US"/>
          </a:p>
        </p:txBody>
      </p:sp>
    </p:spTree>
    <p:extLst>
      <p:ext uri="{BB962C8B-B14F-4D97-AF65-F5344CB8AC3E}">
        <p14:creationId xmlns:p14="http://schemas.microsoft.com/office/powerpoint/2010/main" val="3366421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Will need to discuss this.</a:t>
            </a:r>
            <a:endParaRPr lang="en-US" dirty="0"/>
          </a:p>
        </p:txBody>
      </p:sp>
      <p:sp>
        <p:nvSpPr>
          <p:cNvPr id="4" name="Slide Number Placeholder 3"/>
          <p:cNvSpPr>
            <a:spLocks noGrp="1"/>
          </p:cNvSpPr>
          <p:nvPr>
            <p:ph type="sldNum" sz="quarter" idx="5"/>
          </p:nvPr>
        </p:nvSpPr>
        <p:spPr/>
        <p:txBody>
          <a:bodyPr/>
          <a:lstStyle/>
          <a:p>
            <a:fld id="{000EA624-5CA5-47FC-9033-00AE7487E531}" type="slidenum">
              <a:rPr lang="en-US" smtClean="0"/>
              <a:t>11</a:t>
            </a:fld>
            <a:endParaRPr lang="en-US"/>
          </a:p>
        </p:txBody>
      </p:sp>
    </p:spTree>
    <p:extLst>
      <p:ext uri="{BB962C8B-B14F-4D97-AF65-F5344CB8AC3E}">
        <p14:creationId xmlns:p14="http://schemas.microsoft.com/office/powerpoint/2010/main" val="2177330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F5AD91-6219-499E-B6A9-D3028FC21689}" type="slidenum">
              <a:rPr lang="en-US" smtClean="0"/>
              <a:t>12</a:t>
            </a:fld>
            <a:endParaRPr lang="en-US"/>
          </a:p>
        </p:txBody>
      </p:sp>
    </p:spTree>
    <p:extLst>
      <p:ext uri="{BB962C8B-B14F-4D97-AF65-F5344CB8AC3E}">
        <p14:creationId xmlns:p14="http://schemas.microsoft.com/office/powerpoint/2010/main" val="1115779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F5AD91-6219-499E-B6A9-D3028FC21689}" type="slidenum">
              <a:rPr lang="en-US" smtClean="0"/>
              <a:t>15</a:t>
            </a:fld>
            <a:endParaRPr lang="en-US"/>
          </a:p>
        </p:txBody>
      </p:sp>
    </p:spTree>
    <p:extLst>
      <p:ext uri="{BB962C8B-B14F-4D97-AF65-F5344CB8AC3E}">
        <p14:creationId xmlns:p14="http://schemas.microsoft.com/office/powerpoint/2010/main" val="3431751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B7740DF-022A-4E68-8983-10B0D7607825}" type="slidenum">
              <a:rPr lang="en-CA" smtClean="0"/>
              <a:t>16</a:t>
            </a:fld>
            <a:endParaRPr lang="en-CA"/>
          </a:p>
        </p:txBody>
      </p:sp>
    </p:spTree>
    <p:extLst>
      <p:ext uri="{BB962C8B-B14F-4D97-AF65-F5344CB8AC3E}">
        <p14:creationId xmlns:p14="http://schemas.microsoft.com/office/powerpoint/2010/main" val="830538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in bold</a:t>
            </a:r>
          </a:p>
          <a:p>
            <a:r>
              <a:rPr lang="en-US" dirty="0"/>
              <a:t>Key milestones highlighted:</a:t>
            </a:r>
          </a:p>
          <a:p>
            <a:pPr marL="171450" indent="-171450">
              <a:buFontTx/>
              <a:buChar char="-"/>
            </a:pPr>
            <a:r>
              <a:rPr lang="en-US" dirty="0"/>
              <a:t>Core code complete – March 1</a:t>
            </a:r>
          </a:p>
          <a:p>
            <a:pPr marL="171450" indent="-171450">
              <a:buFontTx/>
              <a:buChar char="-"/>
            </a:pPr>
            <a:r>
              <a:rPr lang="en-US" dirty="0"/>
              <a:t>Core accuracy metrics complete – March 2</a:t>
            </a:r>
          </a:p>
        </p:txBody>
      </p:sp>
      <p:sp>
        <p:nvSpPr>
          <p:cNvPr id="4" name="Slide Number Placeholder 3"/>
          <p:cNvSpPr>
            <a:spLocks noGrp="1"/>
          </p:cNvSpPr>
          <p:nvPr>
            <p:ph type="sldNum" sz="quarter" idx="5"/>
          </p:nvPr>
        </p:nvSpPr>
        <p:spPr/>
        <p:txBody>
          <a:bodyPr/>
          <a:lstStyle/>
          <a:p>
            <a:fld id="{97F5AD91-6219-499E-B6A9-D3028FC21689}" type="slidenum">
              <a:rPr lang="en-US" smtClean="0"/>
              <a:t>17</a:t>
            </a:fld>
            <a:endParaRPr lang="en-US"/>
          </a:p>
        </p:txBody>
      </p:sp>
    </p:spTree>
    <p:extLst>
      <p:ext uri="{BB962C8B-B14F-4D97-AF65-F5344CB8AC3E}">
        <p14:creationId xmlns:p14="http://schemas.microsoft.com/office/powerpoint/2010/main" val="955005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Confidence score  tuning complete 9-Mar</a:t>
            </a:r>
          </a:p>
          <a:p>
            <a:pPr marL="171450" indent="-171450">
              <a:buFontTx/>
              <a:buChar char="-"/>
            </a:pPr>
            <a:r>
              <a:rPr lang="en-US" dirty="0"/>
              <a:t>Last analysis component complete 14-Mar</a:t>
            </a:r>
          </a:p>
        </p:txBody>
      </p:sp>
      <p:sp>
        <p:nvSpPr>
          <p:cNvPr id="4" name="Slide Number Placeholder 3"/>
          <p:cNvSpPr>
            <a:spLocks noGrp="1"/>
          </p:cNvSpPr>
          <p:nvPr>
            <p:ph type="sldNum" sz="quarter" idx="5"/>
          </p:nvPr>
        </p:nvSpPr>
        <p:spPr/>
        <p:txBody>
          <a:bodyPr/>
          <a:lstStyle/>
          <a:p>
            <a:fld id="{97F5AD91-6219-499E-B6A9-D3028FC21689}" type="slidenum">
              <a:rPr lang="en-US" smtClean="0"/>
              <a:t>18</a:t>
            </a:fld>
            <a:endParaRPr lang="en-US"/>
          </a:p>
        </p:txBody>
      </p:sp>
    </p:spTree>
    <p:extLst>
      <p:ext uri="{BB962C8B-B14F-4D97-AF65-F5344CB8AC3E}">
        <p14:creationId xmlns:p14="http://schemas.microsoft.com/office/powerpoint/2010/main" val="127661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B7740DF-022A-4E68-8983-10B0D7607825}" type="slidenum">
              <a:rPr lang="en-CA" smtClean="0"/>
              <a:t>19</a:t>
            </a:fld>
            <a:endParaRPr lang="en-CA"/>
          </a:p>
        </p:txBody>
      </p:sp>
    </p:spTree>
    <p:extLst>
      <p:ext uri="{BB962C8B-B14F-4D97-AF65-F5344CB8AC3E}">
        <p14:creationId xmlns:p14="http://schemas.microsoft.com/office/powerpoint/2010/main" val="2371821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2/23/2026</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900420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2/23/2026</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618956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2/23/2026</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061662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2/23/2026</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56110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2/23/2026</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69001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2/23/2026</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613745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2/23/2026</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784499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2/23/2026</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075093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2/23/2026</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544921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2/23/2026</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46473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2/23/2026</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259005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356C674D-C1B2-3D36-EDA7-DF911EB1FEB6}"/>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1BD3DABB-62AC-C704-C426-2B0C4C5FE585}"/>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Ellipse">
            <a:extLst>
              <a:ext uri="{FF2B5EF4-FFF2-40B4-BE49-F238E27FC236}">
                <a16:creationId xmlns:a16="http://schemas.microsoft.com/office/drawing/2014/main" id="{0CEC4267-75DC-2698-E83E-C2C03A67EEE7}"/>
              </a:ext>
            </a:extLst>
          </p:cNvPr>
          <p:cNvSpPr/>
          <p:nvPr userDrawn="1"/>
        </p:nvSpPr>
        <p:spPr>
          <a:xfrm>
            <a:off x="1204074" y="608091"/>
            <a:ext cx="144000" cy="144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4332287" y="1304925"/>
            <a:ext cx="7272338" cy="4968875"/>
          </a:xfrm>
          <a:prstGeom prst="roundRect">
            <a:avLst>
              <a:gd name="adj" fmla="val 9303"/>
            </a:avLst>
          </a:prstGeom>
        </p:spPr>
        <p:txBody>
          <a:bodyPr/>
          <a:lstStyle/>
          <a:p>
            <a:endParaRPr lang="ru-RU"/>
          </a:p>
        </p:txBody>
      </p:sp>
      <p:sp>
        <p:nvSpPr>
          <p:cNvPr id="3" name="Title Placeholder">
            <a:extLst>
              <a:ext uri="{FF2B5EF4-FFF2-40B4-BE49-F238E27FC236}">
                <a16:creationId xmlns:a16="http://schemas.microsoft.com/office/drawing/2014/main" id="{1701A77F-3F56-CD18-BB7D-9EB1DC5C0B94}"/>
              </a:ext>
            </a:extLst>
          </p:cNvPr>
          <p:cNvSpPr>
            <a:spLocks noGrp="1"/>
          </p:cNvSpPr>
          <p:nvPr>
            <p:ph type="title" hasCustomPrompt="1"/>
            <p:custDataLst>
              <p:tags r:id="rId1"/>
            </p:custDataLst>
          </p:nvPr>
        </p:nvSpPr>
        <p:spPr>
          <a:xfrm>
            <a:off x="597207" y="1309407"/>
            <a:ext cx="3519181" cy="3323987"/>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a:t>Click to add text</a:t>
            </a:r>
            <a:endParaRPr lang="ru-RU" dirty="0"/>
          </a:p>
        </p:txBody>
      </p:sp>
      <p:sp>
        <p:nvSpPr>
          <p:cNvPr id="9" name="Subtitle Placeholder">
            <a:extLst>
              <a:ext uri="{FF2B5EF4-FFF2-40B4-BE49-F238E27FC236}">
                <a16:creationId xmlns:a16="http://schemas.microsoft.com/office/drawing/2014/main" id="{C33DAF4D-5B62-BE3B-CC0B-FAEBC6862C28}"/>
              </a:ext>
            </a:extLst>
          </p:cNvPr>
          <p:cNvSpPr>
            <a:spLocks noGrp="1"/>
          </p:cNvSpPr>
          <p:nvPr>
            <p:ph type="body" idx="24" hasCustomPrompt="1"/>
            <p:custDataLst>
              <p:tags r:id="rId2"/>
            </p:custDataLst>
          </p:nvPr>
        </p:nvSpPr>
        <p:spPr>
          <a:xfrm>
            <a:off x="815188" y="4762322"/>
            <a:ext cx="3301200" cy="1487587"/>
          </a:xfrm>
        </p:spPr>
        <p:txBody>
          <a:bodyPr lIns="0" tIns="0" rIns="0" bIns="0" anchor="ctr" anchorCtr="0">
            <a:noAutofit/>
          </a:bodyPr>
          <a:lstStyle>
            <a:lvl1pPr marL="0" indent="0" algn="l">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0" name="Прямая соединительная линия 9">
            <a:extLst>
              <a:ext uri="{FF2B5EF4-FFF2-40B4-BE49-F238E27FC236}">
                <a16:creationId xmlns:a16="http://schemas.microsoft.com/office/drawing/2014/main" id="{0EB6561E-A668-1F5B-D3AA-2B30EB3E2784}"/>
              </a:ext>
            </a:extLst>
          </p:cNvPr>
          <p:cNvCxnSpPr>
            <a:cxnSpLocks/>
          </p:cNvCxnSpPr>
          <p:nvPr userDrawn="1"/>
        </p:nvCxnSpPr>
        <p:spPr>
          <a:xfrm>
            <a:off x="588644" y="4762322"/>
            <a:ext cx="0" cy="14868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2" name="Footer">
            <a:extLst>
              <a:ext uri="{FF2B5EF4-FFF2-40B4-BE49-F238E27FC236}">
                <a16:creationId xmlns:a16="http://schemas.microsoft.com/office/drawing/2014/main" id="{CAC7F701-456D-855A-7EFF-A8080DBB5322}"/>
              </a:ext>
            </a:extLst>
          </p:cNvPr>
          <p:cNvSpPr>
            <a:spLocks noGrp="1"/>
          </p:cNvSpPr>
          <p:nvPr>
            <p:ph type="body" idx="27" hasCustomPrompt="1"/>
          </p:nvPr>
        </p:nvSpPr>
        <p:spPr>
          <a:xfrm>
            <a:off x="1512423" y="586604"/>
            <a:ext cx="6347290" cy="207749"/>
          </a:xfrm>
        </p:spPr>
        <p:txBody>
          <a:bodyPr wrap="square" lIns="0" tIns="0" rIns="0" bIns="0" anchor="t" anchorCtr="0">
            <a:noAutofit/>
          </a:bodyPr>
          <a:lstStyle>
            <a:lvl1pPr marL="0" indent="0" algn="l">
              <a:buNone/>
              <a:defRPr sz="1350">
                <a:solidFill>
                  <a:schemeClr val="bg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231475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2/23/2026</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dirty="0">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dirty="0"/>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325501111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DBC626-9493-4173-4785-B4E4251F3E76}"/>
              </a:ext>
            </a:extLst>
          </p:cNvPr>
          <p:cNvSpPr>
            <a:spLocks noGrp="1"/>
          </p:cNvSpPr>
          <p:nvPr>
            <p:ph type="title"/>
            <p:custDataLst>
              <p:tags r:id="rId3"/>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Текст 2">
            <a:extLst>
              <a:ext uri="{FF2B5EF4-FFF2-40B4-BE49-F238E27FC236}">
                <a16:creationId xmlns:a16="http://schemas.microsoft.com/office/drawing/2014/main" id="{32DC0C7E-C392-88D5-6F37-5427AF82E737}"/>
              </a:ext>
            </a:extLst>
          </p:cNvPr>
          <p:cNvSpPr>
            <a:spLocks noGrp="1"/>
          </p:cNvSpPr>
          <p:nvPr>
            <p:ph type="body" idx="1"/>
            <p:custDataLst>
              <p:tags r:id="rId4"/>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3">
            <a:extLst>
              <a:ext uri="{FF2B5EF4-FFF2-40B4-BE49-F238E27FC236}">
                <a16:creationId xmlns:a16="http://schemas.microsoft.com/office/drawing/2014/main" id="{C856EB71-562D-6CA2-3EF1-E90DBC2AC822}"/>
              </a:ext>
            </a:extLst>
          </p:cNvPr>
          <p:cNvSpPr>
            <a:spLocks noGrp="1"/>
          </p:cNvSpPr>
          <p:nvPr>
            <p:ph type="dt" sz="half" idx="2"/>
          </p:nvPr>
        </p:nvSpPr>
        <p:spPr>
          <a:xfrm>
            <a:off x="597207" y="6280409"/>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E33663-4344-4711-B9F5-6FAF6501A89C}" type="datetimeFigureOut">
              <a:rPr lang="ru-RU" smtClean="0"/>
              <a:t>23.02.2026</a:t>
            </a:fld>
            <a:endParaRPr lang="ru-RU"/>
          </a:p>
        </p:txBody>
      </p:sp>
      <p:sp>
        <p:nvSpPr>
          <p:cNvPr id="8" name="Нижний колонтитул 4">
            <a:extLst>
              <a:ext uri="{FF2B5EF4-FFF2-40B4-BE49-F238E27FC236}">
                <a16:creationId xmlns:a16="http://schemas.microsoft.com/office/drawing/2014/main" id="{2D99616C-BA80-8023-96D2-5E6E848F99AC}"/>
              </a:ext>
            </a:extLst>
          </p:cNvPr>
          <p:cNvSpPr>
            <a:spLocks noGrp="1"/>
          </p:cNvSpPr>
          <p:nvPr>
            <p:ph type="ftr" sz="quarter" idx="3"/>
          </p:nvPr>
        </p:nvSpPr>
        <p:spPr>
          <a:xfrm>
            <a:off x="4043516" y="6280409"/>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dirty="0"/>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831" r:id="rId1"/>
  </p:sldLayoutIdLst>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D690347A-6937-4F6D-93E3-D398D803D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E6FA2BA-220F-4070-A46C-D437A6D24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2647" y="-284144"/>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B18D2A95-840F-45DF-AD93-5FA412FC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5326" y="0"/>
            <a:ext cx="2323626" cy="3111267"/>
          </a:xfrm>
          <a:custGeom>
            <a:avLst/>
            <a:gdLst>
              <a:gd name="connsiteX0" fmla="*/ 94643 w 2323626"/>
              <a:gd name="connsiteY0" fmla="*/ 0 h 3111267"/>
              <a:gd name="connsiteX1" fmla="*/ 963280 w 2323626"/>
              <a:gd name="connsiteY1" fmla="*/ 0 h 3111267"/>
              <a:gd name="connsiteX2" fmla="*/ 947119 w 2323626"/>
              <a:gd name="connsiteY2" fmla="*/ 33549 h 3111267"/>
              <a:gd name="connsiteX3" fmla="*/ 818991 w 2323626"/>
              <a:gd name="connsiteY3" fmla="*/ 668189 h 3111267"/>
              <a:gd name="connsiteX4" fmla="*/ 2282726 w 2323626"/>
              <a:gd name="connsiteY4" fmla="*/ 2290209 h 3111267"/>
              <a:gd name="connsiteX5" fmla="*/ 2323626 w 2323626"/>
              <a:gd name="connsiteY5" fmla="*/ 2292275 h 3111267"/>
              <a:gd name="connsiteX6" fmla="*/ 2323626 w 2323626"/>
              <a:gd name="connsiteY6" fmla="*/ 3111267 h 3111267"/>
              <a:gd name="connsiteX7" fmla="*/ 2198990 w 2323626"/>
              <a:gd name="connsiteY7" fmla="*/ 3104973 h 3111267"/>
              <a:gd name="connsiteX8" fmla="*/ 0 w 2323626"/>
              <a:gd name="connsiteY8" fmla="*/ 668189 h 3111267"/>
              <a:gd name="connsiteX9" fmla="*/ 49764 w 2323626"/>
              <a:gd name="connsiteY9" fmla="*/ 174544 h 311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626" h="3111267">
                <a:moveTo>
                  <a:pt x="94643" y="0"/>
                </a:moveTo>
                <a:lnTo>
                  <a:pt x="963280" y="0"/>
                </a:lnTo>
                <a:lnTo>
                  <a:pt x="947119" y="33549"/>
                </a:lnTo>
                <a:cubicBezTo>
                  <a:pt x="864614" y="228612"/>
                  <a:pt x="818991" y="443073"/>
                  <a:pt x="818991" y="668189"/>
                </a:cubicBezTo>
                <a:cubicBezTo>
                  <a:pt x="818991" y="1512376"/>
                  <a:pt x="1460568" y="2206715"/>
                  <a:pt x="2282726" y="2290209"/>
                </a:cubicBezTo>
                <a:lnTo>
                  <a:pt x="2323626" y="2292275"/>
                </a:lnTo>
                <a:lnTo>
                  <a:pt x="2323626" y="3111267"/>
                </a:lnTo>
                <a:lnTo>
                  <a:pt x="2198990" y="3104973"/>
                </a:lnTo>
                <a:cubicBezTo>
                  <a:pt x="963850" y="2979538"/>
                  <a:pt x="0" y="1936423"/>
                  <a:pt x="0" y="668189"/>
                </a:cubicBezTo>
                <a:cubicBezTo>
                  <a:pt x="0" y="499091"/>
                  <a:pt x="17135" y="333996"/>
                  <a:pt x="49764" y="174544"/>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F92A3F2D-F424-43A3-88B0-FB258A0C18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26085"/>
            <a:ext cx="2372980" cy="2023523"/>
          </a:xfrm>
          <a:custGeom>
            <a:avLst/>
            <a:gdLst>
              <a:gd name="connsiteX0" fmla="*/ 0 w 2372980"/>
              <a:gd name="connsiteY0" fmla="*/ 0 h 2023523"/>
              <a:gd name="connsiteX1" fmla="*/ 213128 w 2372980"/>
              <a:gd name="connsiteY1" fmla="*/ 10763 h 2023523"/>
              <a:gd name="connsiteX2" fmla="*/ 2362355 w 2372980"/>
              <a:gd name="connsiteY2" fmla="*/ 1953901 h 2023523"/>
              <a:gd name="connsiteX3" fmla="*/ 2372980 w 2372980"/>
              <a:gd name="connsiteY3" fmla="*/ 2023523 h 2023523"/>
              <a:gd name="connsiteX4" fmla="*/ 1535462 w 2372980"/>
              <a:gd name="connsiteY4" fmla="*/ 2023523 h 2023523"/>
              <a:gd name="connsiteX5" fmla="*/ 1519824 w 2372980"/>
              <a:gd name="connsiteY5" fmla="*/ 1962704 h 2023523"/>
              <a:gd name="connsiteX6" fmla="*/ 129390 w 2372980"/>
              <a:gd name="connsiteY6" fmla="*/ 825526 h 2023523"/>
              <a:gd name="connsiteX7" fmla="*/ 0 w 2372980"/>
              <a:gd name="connsiteY7" fmla="*/ 818992 h 202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2980" h="2023523">
                <a:moveTo>
                  <a:pt x="0" y="0"/>
                </a:moveTo>
                <a:lnTo>
                  <a:pt x="213128" y="10763"/>
                </a:lnTo>
                <a:cubicBezTo>
                  <a:pt x="1283583" y="119473"/>
                  <a:pt x="2150269" y="917463"/>
                  <a:pt x="2362355" y="1953901"/>
                </a:cubicBezTo>
                <a:lnTo>
                  <a:pt x="2372980" y="2023523"/>
                </a:lnTo>
                <a:lnTo>
                  <a:pt x="1535462" y="2023523"/>
                </a:lnTo>
                <a:lnTo>
                  <a:pt x="1519824" y="1962704"/>
                </a:lnTo>
                <a:cubicBezTo>
                  <a:pt x="1329271" y="1350058"/>
                  <a:pt x="787117" y="892322"/>
                  <a:pt x="129390" y="825526"/>
                </a:cubicBezTo>
                <a:lnTo>
                  <a:pt x="0" y="818992"/>
                </a:ln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8" name="Group 17">
            <a:extLst>
              <a:ext uri="{FF2B5EF4-FFF2-40B4-BE49-F238E27FC236}">
                <a16:creationId xmlns:a16="http://schemas.microsoft.com/office/drawing/2014/main" id="{E8BBA9B4-EF00-4579-A73A-061C5F902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 name="Straight Connector 18">
              <a:extLst>
                <a:ext uri="{FF2B5EF4-FFF2-40B4-BE49-F238E27FC236}">
                  <a16:creationId xmlns:a16="http://schemas.microsoft.com/office/drawing/2014/main" id="{2671F1C5-E931-49D9-9767-24576DE539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046BA41-68C0-40C2-BC53-B4CEE4497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6E7620-A012-4D01-82AC-46D48B7ED0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5B0D3EE-EC46-46BC-91C4-5DF8E23956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0B37E-E738-4DEC-9C41-BF6269C066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AFB8B0-64A4-4D83-9BD8-9E66B562B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476192-29F6-47CF-BCF9-7380667EE3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DFCCF7-D983-4E21-9508-BD55CE628F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5B9C6DA-F76E-45A2-8BB3-40FAF6D8CB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4210E6D-AADD-4805-A5EA-9A52D0D304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5DC64F-453E-4AEA-AE65-D99FAE789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D802B56-7408-46D4-8EAA-BE6E22347E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1C2DD0F-4A07-4510-B9BC-EE4560F6D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D788BD1-17A6-41DE-9EFA-533C6D3D71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9AC2388-5F15-4D60-B816-F7AC60F798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26E0780-8DF3-4637-8C1A-7A3E623B0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9CE402E-8C2D-4EC6-A180-FBF8116EE6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5F8AC4E-9C7D-42D3-89A2-33C30FA518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7F715C8-AA23-4912-8669-61553682B8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F183C1D-030E-4775-9670-0936C809C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70DC51B-15B9-4F37-9BF3-F4E762B92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3834603-F0EF-42F7-8341-C4BF2931DD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E31C74-18A8-4EB2-8034-B2BF4C20E8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3E618E4-2AD8-4E68-AEEE-8D11DC4D1D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5CBF929-71E3-4CCC-A912-A0E1D135F5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AB384EE-8795-4C64-B229-D57CB4BAD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10E8CCD-425C-4DCD-A08B-8947BAC17A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EDFBB1E-CA08-43FD-9A7A-F1B29EFDB6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23D0689-9AC6-4F16-AFFD-D68F95A0ED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B8C64A0-8517-4C6C-D737-416381AC3C1A}"/>
              </a:ext>
            </a:extLst>
          </p:cNvPr>
          <p:cNvSpPr>
            <a:spLocks noGrp="1"/>
          </p:cNvSpPr>
          <p:nvPr>
            <p:ph type="ctrTitle"/>
          </p:nvPr>
        </p:nvSpPr>
        <p:spPr>
          <a:xfrm>
            <a:off x="453142" y="725467"/>
            <a:ext cx="10733204" cy="2784496"/>
          </a:xfrm>
        </p:spPr>
        <p:txBody>
          <a:bodyPr>
            <a:normAutofit/>
          </a:bodyPr>
          <a:lstStyle/>
          <a:p>
            <a:r>
              <a:rPr lang="en-US" sz="4600" b="1">
                <a:solidFill>
                  <a:schemeClr val="tx2"/>
                </a:solidFill>
              </a:rPr>
              <a:t>V-BReE</a:t>
            </a:r>
            <a:r>
              <a:rPr lang="en-US" sz="4600" b="1" u="sng">
                <a:solidFill>
                  <a:schemeClr val="tx2"/>
                </a:solidFill>
              </a:rPr>
              <a:t> </a:t>
            </a:r>
            <a:br>
              <a:rPr lang="en-US" sz="4600" b="1">
                <a:solidFill>
                  <a:schemeClr val="tx2"/>
                </a:solidFill>
              </a:rPr>
            </a:br>
            <a:r>
              <a:rPr lang="en-US" sz="4600" b="1">
                <a:solidFill>
                  <a:schemeClr val="tx2"/>
                </a:solidFill>
              </a:rPr>
              <a:t>A Variance-thresholded Blinded Refinement Ensemble for</a:t>
            </a:r>
            <a:br>
              <a:rPr lang="en-US" sz="4600" b="1">
                <a:solidFill>
                  <a:schemeClr val="tx2"/>
                </a:solidFill>
              </a:rPr>
            </a:br>
            <a:r>
              <a:rPr lang="en-US" sz="4600" b="1">
                <a:solidFill>
                  <a:schemeClr val="tx2"/>
                </a:solidFill>
              </a:rPr>
              <a:t>Multi-Agent LLM Reasoning</a:t>
            </a:r>
            <a:endParaRPr lang="en-IN" sz="4600" b="1">
              <a:solidFill>
                <a:schemeClr val="tx2"/>
              </a:solidFill>
            </a:endParaRPr>
          </a:p>
        </p:txBody>
      </p:sp>
      <p:sp>
        <p:nvSpPr>
          <p:cNvPr id="3" name="Subtitle 2">
            <a:extLst>
              <a:ext uri="{FF2B5EF4-FFF2-40B4-BE49-F238E27FC236}">
                <a16:creationId xmlns:a16="http://schemas.microsoft.com/office/drawing/2014/main" id="{39C51BBC-492E-F4C5-6946-C728100E8B04}"/>
              </a:ext>
            </a:extLst>
          </p:cNvPr>
          <p:cNvSpPr>
            <a:spLocks noGrp="1"/>
          </p:cNvSpPr>
          <p:nvPr>
            <p:ph type="subTitle" idx="1"/>
          </p:nvPr>
        </p:nvSpPr>
        <p:spPr>
          <a:xfrm>
            <a:off x="453142" y="3602038"/>
            <a:ext cx="10733204" cy="1560594"/>
          </a:xfrm>
        </p:spPr>
        <p:txBody>
          <a:bodyPr>
            <a:normAutofit/>
          </a:bodyPr>
          <a:lstStyle/>
          <a:p>
            <a:pPr>
              <a:lnSpc>
                <a:spcPct val="100000"/>
              </a:lnSpc>
            </a:pPr>
            <a:r>
              <a:rPr lang="en-IN" sz="2200" b="1">
                <a:solidFill>
                  <a:schemeClr val="tx2"/>
                </a:solidFill>
              </a:rPr>
              <a:t>University of Guelph - Data 6400</a:t>
            </a:r>
            <a:br>
              <a:rPr lang="en-IN" sz="2200">
                <a:solidFill>
                  <a:schemeClr val="tx2"/>
                </a:solidFill>
              </a:rPr>
            </a:br>
            <a:r>
              <a:rPr lang="en-IN" sz="2200" i="1">
                <a:solidFill>
                  <a:schemeClr val="tx2"/>
                </a:solidFill>
              </a:rPr>
              <a:t>Humanity’s Last Proctors</a:t>
            </a:r>
          </a:p>
          <a:p>
            <a:pPr>
              <a:lnSpc>
                <a:spcPct val="100000"/>
              </a:lnSpc>
            </a:pPr>
            <a:r>
              <a:rPr lang="en-IN" sz="2200" i="1">
                <a:solidFill>
                  <a:schemeClr val="tx2"/>
                </a:solidFill>
              </a:rPr>
              <a:t>Jason Ives · Jeremy Greenwood · Milad Ebrahimi Abyazandi · Sherwin Darryl D’Souza</a:t>
            </a:r>
          </a:p>
        </p:txBody>
      </p:sp>
    </p:spTree>
    <p:extLst>
      <p:ext uri="{BB962C8B-B14F-4D97-AF65-F5344CB8AC3E}">
        <p14:creationId xmlns:p14="http://schemas.microsoft.com/office/powerpoint/2010/main" val="415583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15">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31403C3-CF48-7EA4-7EAE-444693CE5C7D}"/>
              </a:ext>
            </a:extLst>
          </p:cNvPr>
          <p:cNvSpPr>
            <a:spLocks noGrp="1"/>
          </p:cNvSpPr>
          <p:nvPr>
            <p:ph type="title"/>
          </p:nvPr>
        </p:nvSpPr>
        <p:spPr>
          <a:xfrm>
            <a:off x="5791200" y="732348"/>
            <a:ext cx="5410199" cy="2240735"/>
          </a:xfrm>
        </p:spPr>
        <p:txBody>
          <a:bodyPr>
            <a:normAutofit/>
          </a:bodyPr>
          <a:lstStyle/>
          <a:p>
            <a:r>
              <a:rPr lang="en-US" sz="4100" b="1">
                <a:solidFill>
                  <a:schemeClr val="tx2"/>
                </a:solidFill>
              </a:rPr>
              <a:t>Motivation &amp; Problem Statement</a:t>
            </a:r>
            <a:br>
              <a:rPr lang="en-US" sz="4100" b="1">
                <a:solidFill>
                  <a:schemeClr val="tx2"/>
                </a:solidFill>
              </a:rPr>
            </a:br>
            <a:endParaRPr lang="en-CA" sz="4100">
              <a:solidFill>
                <a:schemeClr val="tx2"/>
              </a:solidFill>
            </a:endParaRPr>
          </a:p>
        </p:txBody>
      </p:sp>
      <p:pic>
        <p:nvPicPr>
          <p:cNvPr id="7" name="Graphic 6" descr="Head with Gears">
            <a:extLst>
              <a:ext uri="{FF2B5EF4-FFF2-40B4-BE49-F238E27FC236}">
                <a16:creationId xmlns:a16="http://schemas.microsoft.com/office/drawing/2014/main" id="{B14F6518-B228-FCBB-693C-D563A17CAE1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7222" y="978211"/>
            <a:ext cx="5009616" cy="5009616"/>
          </a:xfrm>
          <a:prstGeom prst="rect">
            <a:avLst/>
          </a:prstGeom>
        </p:spPr>
      </p:pic>
      <p:sp>
        <p:nvSpPr>
          <p:cNvPr id="3" name="Content Placeholder 2">
            <a:extLst>
              <a:ext uri="{FF2B5EF4-FFF2-40B4-BE49-F238E27FC236}">
                <a16:creationId xmlns:a16="http://schemas.microsoft.com/office/drawing/2014/main" id="{0B103EA8-FA66-7542-D30B-CF08209964BC}"/>
              </a:ext>
            </a:extLst>
          </p:cNvPr>
          <p:cNvSpPr>
            <a:spLocks noGrp="1"/>
          </p:cNvSpPr>
          <p:nvPr>
            <p:ph idx="1"/>
          </p:nvPr>
        </p:nvSpPr>
        <p:spPr>
          <a:xfrm>
            <a:off x="5760295" y="2534320"/>
            <a:ext cx="5410199" cy="2465860"/>
          </a:xfrm>
        </p:spPr>
        <p:txBody>
          <a:bodyPr>
            <a:normAutofit/>
          </a:bodyPr>
          <a:lstStyle/>
          <a:p>
            <a:pPr>
              <a:lnSpc>
                <a:spcPct val="100000"/>
              </a:lnSpc>
            </a:pPr>
            <a:r>
              <a:rPr lang="en-US" sz="1400" b="1" dirty="0">
                <a:solidFill>
                  <a:schemeClr val="tx2"/>
                </a:solidFill>
              </a:rPr>
              <a:t>Motivation:</a:t>
            </a:r>
            <a:r>
              <a:rPr lang="en-US" sz="1400" dirty="0">
                <a:solidFill>
                  <a:schemeClr val="tx2"/>
                </a:solidFill>
              </a:rPr>
              <a:t> Prior work shows multi-agent collaboration can improve LLM reasoning accuracy (test-time scaling).</a:t>
            </a:r>
          </a:p>
          <a:p>
            <a:pPr>
              <a:lnSpc>
                <a:spcPct val="100000"/>
              </a:lnSpc>
            </a:pPr>
            <a:r>
              <a:rPr lang="en-US" sz="1400" b="1" dirty="0">
                <a:solidFill>
                  <a:schemeClr val="tx2"/>
                </a:solidFill>
              </a:rPr>
              <a:t>Tension:</a:t>
            </a:r>
            <a:r>
              <a:rPr lang="en-US" sz="1400" dirty="0">
                <a:solidFill>
                  <a:schemeClr val="tx2"/>
                </a:solidFill>
              </a:rPr>
              <a:t> Other studies find collaboration can trigger social conformity / sycophancy, sometimes hurting performance.</a:t>
            </a:r>
          </a:p>
          <a:p>
            <a:pPr>
              <a:lnSpc>
                <a:spcPct val="100000"/>
              </a:lnSpc>
            </a:pPr>
            <a:r>
              <a:rPr lang="en-US" sz="1400" b="1" dirty="0">
                <a:solidFill>
                  <a:schemeClr val="tx2"/>
                </a:solidFill>
              </a:rPr>
              <a:t>Problem:</a:t>
            </a:r>
            <a:r>
              <a:rPr lang="en-US" sz="1400" dirty="0">
                <a:solidFill>
                  <a:schemeClr val="tx2"/>
                </a:solidFill>
              </a:rPr>
              <a:t> Fully open sharing of rationales can cause agents to converge for “social” reasons, creating confident wrong consensus.</a:t>
            </a:r>
          </a:p>
          <a:p>
            <a:pPr>
              <a:lnSpc>
                <a:spcPct val="100000"/>
              </a:lnSpc>
            </a:pPr>
            <a:r>
              <a:rPr lang="en-US" sz="1400" b="1" dirty="0">
                <a:solidFill>
                  <a:schemeClr val="tx2"/>
                </a:solidFill>
              </a:rPr>
              <a:t>Our idea:</a:t>
            </a:r>
            <a:r>
              <a:rPr lang="en-US" sz="1400" dirty="0">
                <a:solidFill>
                  <a:schemeClr val="tx2"/>
                </a:solidFill>
              </a:rPr>
              <a:t> Restricted collaboration, restrict what agents can see from each other to reduce social influence.</a:t>
            </a:r>
          </a:p>
          <a:p>
            <a:pPr>
              <a:lnSpc>
                <a:spcPct val="100000"/>
              </a:lnSpc>
            </a:pPr>
            <a:endParaRPr lang="en-CA" sz="1400" dirty="0">
              <a:solidFill>
                <a:schemeClr val="tx2"/>
              </a:solidFill>
            </a:endParaRPr>
          </a:p>
        </p:txBody>
      </p:sp>
      <p:sp>
        <p:nvSpPr>
          <p:cNvPr id="4" name="Rectangle: Rounded Corners 3">
            <a:extLst>
              <a:ext uri="{FF2B5EF4-FFF2-40B4-BE49-F238E27FC236}">
                <a16:creationId xmlns:a16="http://schemas.microsoft.com/office/drawing/2014/main" id="{D122009D-F5A9-3917-A256-F5FBBF838EC2}"/>
              </a:ext>
            </a:extLst>
          </p:cNvPr>
          <p:cNvSpPr/>
          <p:nvPr/>
        </p:nvSpPr>
        <p:spPr>
          <a:xfrm>
            <a:off x="6096000" y="5134021"/>
            <a:ext cx="5009615" cy="6527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pPr>
            <a:r>
              <a:rPr lang="en-US" sz="1600" b="1" dirty="0">
                <a:solidFill>
                  <a:schemeClr val="tx2"/>
                </a:solidFill>
              </a:rPr>
              <a:t>Research question:</a:t>
            </a:r>
            <a:r>
              <a:rPr lang="en-US" sz="1600" dirty="0">
                <a:solidFill>
                  <a:schemeClr val="tx2"/>
                </a:solidFill>
              </a:rPr>
              <a:t> can Restricted collaboration outperform fully open collaboration?</a:t>
            </a:r>
          </a:p>
        </p:txBody>
      </p:sp>
    </p:spTree>
    <p:extLst>
      <p:ext uri="{BB962C8B-B14F-4D97-AF65-F5344CB8AC3E}">
        <p14:creationId xmlns:p14="http://schemas.microsoft.com/office/powerpoint/2010/main" val="125363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15">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F205772-D4BB-D028-F154-CB814904E9B0}"/>
              </a:ext>
            </a:extLst>
          </p:cNvPr>
          <p:cNvSpPr>
            <a:spLocks noGrp="1"/>
          </p:cNvSpPr>
          <p:nvPr>
            <p:ph type="title"/>
          </p:nvPr>
        </p:nvSpPr>
        <p:spPr>
          <a:xfrm>
            <a:off x="5791200" y="732348"/>
            <a:ext cx="5410199" cy="2240735"/>
          </a:xfrm>
        </p:spPr>
        <p:txBody>
          <a:bodyPr>
            <a:normAutofit/>
          </a:bodyPr>
          <a:lstStyle/>
          <a:p>
            <a:r>
              <a:rPr lang="en-CA">
                <a:solidFill>
                  <a:schemeClr val="tx2"/>
                </a:solidFill>
              </a:rPr>
              <a:t>Related work</a:t>
            </a:r>
          </a:p>
        </p:txBody>
      </p:sp>
      <p:pic>
        <p:nvPicPr>
          <p:cNvPr id="7" name="Graphic 6" descr="Meeting">
            <a:extLst>
              <a:ext uri="{FF2B5EF4-FFF2-40B4-BE49-F238E27FC236}">
                <a16:creationId xmlns:a16="http://schemas.microsoft.com/office/drawing/2014/main" id="{5219A49E-46EB-FCF3-2270-8249414199A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7222" y="978211"/>
            <a:ext cx="5009616" cy="5009616"/>
          </a:xfrm>
          <a:prstGeom prst="rect">
            <a:avLst/>
          </a:prstGeom>
        </p:spPr>
      </p:pic>
      <p:sp>
        <p:nvSpPr>
          <p:cNvPr id="3" name="Content Placeholder 2">
            <a:extLst>
              <a:ext uri="{FF2B5EF4-FFF2-40B4-BE49-F238E27FC236}">
                <a16:creationId xmlns:a16="http://schemas.microsoft.com/office/drawing/2014/main" id="{529642FC-00D1-7AEB-CB38-253A99493330}"/>
              </a:ext>
            </a:extLst>
          </p:cNvPr>
          <p:cNvSpPr>
            <a:spLocks noGrp="1"/>
          </p:cNvSpPr>
          <p:nvPr>
            <p:ph idx="1"/>
          </p:nvPr>
        </p:nvSpPr>
        <p:spPr>
          <a:xfrm>
            <a:off x="5791200" y="2367517"/>
            <a:ext cx="5419033" cy="3245813"/>
          </a:xfrm>
        </p:spPr>
        <p:txBody>
          <a:bodyPr>
            <a:noAutofit/>
          </a:bodyPr>
          <a:lstStyle/>
          <a:p>
            <a:pPr marL="0" indent="0">
              <a:lnSpc>
                <a:spcPct val="100000"/>
              </a:lnSpc>
              <a:buNone/>
            </a:pPr>
            <a:r>
              <a:rPr lang="en-CA" sz="1400" b="1" dirty="0">
                <a:solidFill>
                  <a:schemeClr val="tx2"/>
                </a:solidFill>
              </a:rPr>
              <a:t>Multi Agent Collaboration improves Reasoning:</a:t>
            </a:r>
          </a:p>
          <a:p>
            <a:pPr>
              <a:buClr>
                <a:schemeClr val="tx1">
                  <a:lumMod val="95000"/>
                  <a:lumOff val="5000"/>
                </a:schemeClr>
              </a:buClr>
            </a:pPr>
            <a:r>
              <a:rPr lang="en-CA" sz="1400" dirty="0">
                <a:solidFill>
                  <a:schemeClr val="tx2"/>
                </a:solidFill>
              </a:rPr>
              <a:t>RECONCILE: Round-Table Conference Improves Reasoning via Consensus among Diverse LLMs</a:t>
            </a:r>
            <a:br>
              <a:rPr lang="en-CA" sz="1400" dirty="0">
                <a:solidFill>
                  <a:schemeClr val="tx2"/>
                </a:solidFill>
              </a:rPr>
            </a:br>
            <a:r>
              <a:rPr lang="en-CA" sz="1400" dirty="0">
                <a:solidFill>
                  <a:schemeClr val="tx2"/>
                </a:solidFill>
              </a:rPr>
              <a:t>(Chen et al., 2024)</a:t>
            </a:r>
          </a:p>
          <a:p>
            <a:pPr>
              <a:buClr>
                <a:schemeClr val="tx1">
                  <a:lumMod val="95000"/>
                  <a:lumOff val="5000"/>
                </a:schemeClr>
              </a:buClr>
            </a:pPr>
            <a:r>
              <a:rPr lang="en-CA" sz="1400" dirty="0">
                <a:solidFill>
                  <a:schemeClr val="tx2"/>
                </a:solidFill>
              </a:rPr>
              <a:t>ICE: Iterative Consensus Ensemble</a:t>
            </a:r>
            <a:br>
              <a:rPr lang="en-CA" sz="1400" dirty="0">
                <a:solidFill>
                  <a:schemeClr val="tx2"/>
                </a:solidFill>
              </a:rPr>
            </a:br>
            <a:r>
              <a:rPr lang="en-CA" sz="1400" dirty="0">
                <a:solidFill>
                  <a:schemeClr val="tx2"/>
                </a:solidFill>
              </a:rPr>
              <a:t>(Omar et al., 2025)</a:t>
            </a:r>
          </a:p>
          <a:p>
            <a:pPr marL="0" lvl="1" indent="0">
              <a:lnSpc>
                <a:spcPct val="100000"/>
              </a:lnSpc>
              <a:buNone/>
            </a:pPr>
            <a:endParaRPr lang="en-CA" sz="1400" dirty="0">
              <a:solidFill>
                <a:schemeClr val="tx2"/>
              </a:solidFill>
            </a:endParaRPr>
          </a:p>
          <a:p>
            <a:pPr marL="0" lvl="1" indent="0">
              <a:lnSpc>
                <a:spcPct val="100000"/>
              </a:lnSpc>
              <a:buNone/>
            </a:pPr>
            <a:r>
              <a:rPr lang="en-CA" sz="1400" b="1" dirty="0">
                <a:solidFill>
                  <a:schemeClr val="tx2"/>
                </a:solidFill>
              </a:rPr>
              <a:t>Social Influence &amp; Conformity Risks</a:t>
            </a:r>
          </a:p>
          <a:p>
            <a:pPr>
              <a:buClr>
                <a:schemeClr val="tx1"/>
              </a:buClr>
            </a:pPr>
            <a:r>
              <a:rPr lang="en-US" sz="1400" dirty="0">
                <a:solidFill>
                  <a:schemeClr val="tx2"/>
                </a:solidFill>
              </a:rPr>
              <a:t>Talk Isn’t Always Cheap: On the Social Effects of Multi-Agent LLM Interaction</a:t>
            </a:r>
            <a:br>
              <a:rPr lang="en-US" sz="1400" dirty="0">
                <a:solidFill>
                  <a:schemeClr val="tx2"/>
                </a:solidFill>
              </a:rPr>
            </a:br>
            <a:r>
              <a:rPr lang="en-US" sz="1400" dirty="0">
                <a:solidFill>
                  <a:schemeClr val="tx2"/>
                </a:solidFill>
              </a:rPr>
              <a:t>(Author et al., 2025)</a:t>
            </a:r>
          </a:p>
          <a:p>
            <a:pPr>
              <a:buClr>
                <a:schemeClr val="tx1"/>
              </a:buClr>
            </a:pPr>
            <a:r>
              <a:rPr lang="en-US" sz="1400" dirty="0">
                <a:solidFill>
                  <a:schemeClr val="tx2"/>
                </a:solidFill>
              </a:rPr>
              <a:t>Do As We Do: Understanding Sycophancy in Language Models</a:t>
            </a:r>
            <a:br>
              <a:rPr lang="en-US" sz="1400" dirty="0">
                <a:solidFill>
                  <a:schemeClr val="tx2"/>
                </a:solidFill>
              </a:rPr>
            </a:br>
            <a:r>
              <a:rPr lang="en-US" sz="1400" dirty="0">
                <a:solidFill>
                  <a:schemeClr val="tx2"/>
                </a:solidFill>
              </a:rPr>
              <a:t>(Author et al., 2024)</a:t>
            </a:r>
          </a:p>
          <a:p>
            <a:endParaRPr lang="en-CA" sz="1400" dirty="0"/>
          </a:p>
          <a:p>
            <a:pPr>
              <a:lnSpc>
                <a:spcPct val="100000"/>
              </a:lnSpc>
            </a:pPr>
            <a:br>
              <a:rPr lang="en-US" sz="1400" dirty="0">
                <a:solidFill>
                  <a:schemeClr val="tx2"/>
                </a:solidFill>
              </a:rPr>
            </a:br>
            <a:endParaRPr lang="en-CA" sz="1400" b="1" dirty="0">
              <a:solidFill>
                <a:schemeClr val="tx2"/>
              </a:solidFill>
            </a:endParaRPr>
          </a:p>
          <a:p>
            <a:pPr marL="0" lvl="1" indent="0">
              <a:lnSpc>
                <a:spcPct val="100000"/>
              </a:lnSpc>
              <a:buNone/>
            </a:pPr>
            <a:endParaRPr lang="en-CA" sz="1400" b="1" dirty="0">
              <a:solidFill>
                <a:schemeClr val="tx2"/>
              </a:solidFill>
            </a:endParaRPr>
          </a:p>
        </p:txBody>
      </p:sp>
    </p:spTree>
    <p:extLst>
      <p:ext uri="{BB962C8B-B14F-4D97-AF65-F5344CB8AC3E}">
        <p14:creationId xmlns:p14="http://schemas.microsoft.com/office/powerpoint/2010/main" val="3105305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C283C3-11F8-A232-A026-3F3D43A00D7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3CDAD724-AF32-45EC-B0B9-360C73C9D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Right Triangle 15">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 name="Straight Connector 18">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5F61BD7-E980-2076-FCC2-8D672ADF0160}"/>
              </a:ext>
            </a:extLst>
          </p:cNvPr>
          <p:cNvSpPr>
            <a:spLocks noGrp="1"/>
          </p:cNvSpPr>
          <p:nvPr>
            <p:ph type="title"/>
          </p:nvPr>
        </p:nvSpPr>
        <p:spPr>
          <a:xfrm>
            <a:off x="457200" y="720772"/>
            <a:ext cx="3718767" cy="5531079"/>
          </a:xfrm>
        </p:spPr>
        <p:txBody>
          <a:bodyPr>
            <a:normAutofit/>
          </a:bodyPr>
          <a:lstStyle/>
          <a:p>
            <a:r>
              <a:rPr lang="en-IN" b="1">
                <a:solidFill>
                  <a:schemeClr val="tx2">
                    <a:alpha val="80000"/>
                  </a:schemeClr>
                </a:solidFill>
              </a:rPr>
              <a:t>Dataset: </a:t>
            </a:r>
            <a:r>
              <a:rPr lang="en-IN">
                <a:solidFill>
                  <a:schemeClr val="tx2">
                    <a:alpha val="80000"/>
                  </a:schemeClr>
                </a:solidFill>
              </a:rPr>
              <a:t>MMLU-Pro (TIGER-AI Lab)</a:t>
            </a:r>
            <a:endParaRPr lang="en-IN" b="1">
              <a:solidFill>
                <a:schemeClr val="tx2">
                  <a:alpha val="80000"/>
                </a:schemeClr>
              </a:solidFill>
            </a:endParaRPr>
          </a:p>
        </p:txBody>
      </p:sp>
      <p:sp>
        <p:nvSpPr>
          <p:cNvPr id="49" name="Rectangle 48">
            <a:extLst>
              <a:ext uri="{FF2B5EF4-FFF2-40B4-BE49-F238E27FC236}">
                <a16:creationId xmlns:a16="http://schemas.microsoft.com/office/drawing/2014/main" id="{BA4D4000-2689-4306-BBA6-BF744AB5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893" y="191033"/>
            <a:ext cx="7763540" cy="60655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8" name="Content Placeholder 5">
            <a:extLst>
              <a:ext uri="{FF2B5EF4-FFF2-40B4-BE49-F238E27FC236}">
                <a16:creationId xmlns:a16="http://schemas.microsoft.com/office/drawing/2014/main" id="{025616D5-F543-560D-3B23-D31CF807D61A}"/>
              </a:ext>
            </a:extLst>
          </p:cNvPr>
          <p:cNvGraphicFramePr>
            <a:graphicFrameLocks noGrp="1"/>
          </p:cNvGraphicFramePr>
          <p:nvPr>
            <p:ph idx="1"/>
            <p:extLst>
              <p:ext uri="{D42A27DB-BD31-4B8C-83A1-F6EECF244321}">
                <p14:modId xmlns:p14="http://schemas.microsoft.com/office/powerpoint/2010/main" val="4097221161"/>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3086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7" name="Group 16">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8" name="Straight Connector 17">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8" name="Freeform: Shape 47">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50" name="Freeform: Shape 49">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52" name="Rectangle 51">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54" name="Group 53">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5" name="Straight Connector 54">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5" name="Freeform: Shape 84">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7" name="Group 86">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8" name="Straight Connector 87">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8" name="Rectangle 117">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0" name="Rectangle 119">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2" name="Right Triangle 121">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Freeform: Shape 123">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6" name="Group 125">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7" name="Straight Connector 126">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53BDD98-88C3-6322-6867-71361A1963E1}"/>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5400" b="1">
                <a:solidFill>
                  <a:schemeClr val="tx2"/>
                </a:solidFill>
              </a:rPr>
              <a:t>Dataset: </a:t>
            </a:r>
            <a:r>
              <a:rPr lang="en-US" sz="5400">
                <a:solidFill>
                  <a:schemeClr val="tx2"/>
                </a:solidFill>
              </a:rPr>
              <a:t>MMLU-Pro (TIGER-AI Lab)</a:t>
            </a:r>
            <a:endParaRPr lang="en-US" sz="5400" b="1">
              <a:solidFill>
                <a:schemeClr val="tx2"/>
              </a:solidFill>
            </a:endParaRPr>
          </a:p>
        </p:txBody>
      </p:sp>
      <p:pic>
        <p:nvPicPr>
          <p:cNvPr id="10" name="Picture 9">
            <a:extLst>
              <a:ext uri="{FF2B5EF4-FFF2-40B4-BE49-F238E27FC236}">
                <a16:creationId xmlns:a16="http://schemas.microsoft.com/office/drawing/2014/main" id="{23D20D85-D58F-1AD4-0EB6-30DE0E281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8180" y="3058575"/>
            <a:ext cx="9952535" cy="3085283"/>
          </a:xfrm>
          <a:prstGeom prst="rect">
            <a:avLst/>
          </a:prstGeom>
        </p:spPr>
      </p:pic>
    </p:spTree>
    <p:extLst>
      <p:ext uri="{BB962C8B-B14F-4D97-AF65-F5344CB8AC3E}">
        <p14:creationId xmlns:p14="http://schemas.microsoft.com/office/powerpoint/2010/main" val="114900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1744DB-D88E-F368-34F4-53D126A0122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21B645D3-580E-4657-9154-484648880E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7870DA4-44E8-43FB-940A-4AF976695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00271D6-4CE5-11E6-E3DE-4E1ABA8AB7AB}"/>
              </a:ext>
            </a:extLst>
          </p:cNvPr>
          <p:cNvSpPr>
            <a:spLocks noGrp="1"/>
          </p:cNvSpPr>
          <p:nvPr>
            <p:ph type="title"/>
          </p:nvPr>
        </p:nvSpPr>
        <p:spPr>
          <a:xfrm>
            <a:off x="457201" y="728906"/>
            <a:ext cx="4712534" cy="5516051"/>
          </a:xfrm>
        </p:spPr>
        <p:txBody>
          <a:bodyPr anchor="t">
            <a:normAutofit/>
          </a:bodyPr>
          <a:lstStyle/>
          <a:p>
            <a:r>
              <a:rPr lang="en-IN" b="1">
                <a:solidFill>
                  <a:schemeClr val="tx2"/>
                </a:solidFill>
              </a:rPr>
              <a:t>Task: MCQ Reasoning</a:t>
            </a:r>
          </a:p>
        </p:txBody>
      </p:sp>
      <p:sp>
        <p:nvSpPr>
          <p:cNvPr id="6" name="Content Placeholder 5">
            <a:extLst>
              <a:ext uri="{FF2B5EF4-FFF2-40B4-BE49-F238E27FC236}">
                <a16:creationId xmlns:a16="http://schemas.microsoft.com/office/drawing/2014/main" id="{04F34322-8B4C-81A0-7E46-4507BF086771}"/>
              </a:ext>
            </a:extLst>
          </p:cNvPr>
          <p:cNvSpPr>
            <a:spLocks noGrp="1"/>
          </p:cNvSpPr>
          <p:nvPr>
            <p:ph idx="1"/>
          </p:nvPr>
        </p:nvSpPr>
        <p:spPr>
          <a:xfrm>
            <a:off x="5388459" y="728906"/>
            <a:ext cx="5813687" cy="5545420"/>
          </a:xfrm>
        </p:spPr>
        <p:txBody>
          <a:bodyPr anchor="ctr">
            <a:normAutofit/>
          </a:bodyPr>
          <a:lstStyle/>
          <a:p>
            <a:pPr marL="0" indent="0">
              <a:buNone/>
            </a:pPr>
            <a:r>
              <a:rPr lang="en-US" sz="1800" b="1">
                <a:solidFill>
                  <a:schemeClr val="tx2"/>
                </a:solidFill>
              </a:rPr>
              <a:t>Models must:</a:t>
            </a:r>
          </a:p>
          <a:p>
            <a:r>
              <a:rPr lang="en-US" sz="1800">
                <a:solidFill>
                  <a:schemeClr val="tx2"/>
                </a:solidFill>
              </a:rPr>
              <a:t>Interpret the question</a:t>
            </a:r>
          </a:p>
          <a:p>
            <a:r>
              <a:rPr lang="en-US" sz="1800">
                <a:solidFill>
                  <a:schemeClr val="tx2"/>
                </a:solidFill>
              </a:rPr>
              <a:t>Reason about options.</a:t>
            </a:r>
          </a:p>
          <a:p>
            <a:r>
              <a:rPr lang="en-US" sz="1800">
                <a:solidFill>
                  <a:schemeClr val="tx2"/>
                </a:solidFill>
              </a:rPr>
              <a:t>Select </a:t>
            </a:r>
            <a:r>
              <a:rPr lang="en-US" sz="1800" b="1">
                <a:solidFill>
                  <a:schemeClr val="tx2"/>
                </a:solidFill>
              </a:rPr>
              <a:t>one final answer.</a:t>
            </a:r>
          </a:p>
          <a:p>
            <a:pPr marL="0" indent="0">
              <a:buNone/>
            </a:pPr>
            <a:br>
              <a:rPr lang="en-US" sz="1800" b="1">
                <a:solidFill>
                  <a:schemeClr val="tx2"/>
                </a:solidFill>
              </a:rPr>
            </a:br>
            <a:r>
              <a:rPr lang="en-US" sz="1800" b="1">
                <a:solidFill>
                  <a:schemeClr val="tx2"/>
                </a:solidFill>
              </a:rPr>
              <a:t>We directly compare:</a:t>
            </a:r>
          </a:p>
          <a:p>
            <a:r>
              <a:rPr lang="en-US" sz="1800">
                <a:solidFill>
                  <a:schemeClr val="tx2"/>
                </a:solidFill>
              </a:rPr>
              <a:t>Single models</a:t>
            </a:r>
          </a:p>
          <a:p>
            <a:r>
              <a:rPr lang="en-US" sz="1800">
                <a:solidFill>
                  <a:schemeClr val="tx2"/>
                </a:solidFill>
              </a:rPr>
              <a:t>Open collaboration (ICE-style)</a:t>
            </a:r>
          </a:p>
          <a:p>
            <a:r>
              <a:rPr lang="en-US" sz="1800">
                <a:solidFill>
                  <a:schemeClr val="tx2"/>
                </a:solidFill>
              </a:rPr>
              <a:t>V-BReE (blinded collaboration)</a:t>
            </a:r>
            <a:br>
              <a:rPr lang="en-US" sz="1800">
                <a:solidFill>
                  <a:schemeClr val="tx2"/>
                </a:solidFill>
              </a:rPr>
            </a:br>
            <a:endParaRPr lang="en-US" sz="1800">
              <a:solidFill>
                <a:schemeClr val="tx2"/>
              </a:solidFill>
            </a:endParaRPr>
          </a:p>
          <a:p>
            <a:pPr marL="0" indent="0">
              <a:buNone/>
            </a:pPr>
            <a:r>
              <a:rPr lang="en-US" sz="1800" b="1">
                <a:solidFill>
                  <a:schemeClr val="tx2"/>
                </a:solidFill>
              </a:rPr>
              <a:t>Primary metric: </a:t>
            </a:r>
            <a:r>
              <a:rPr lang="en-US" sz="1800">
                <a:solidFill>
                  <a:schemeClr val="tx2"/>
                </a:solidFill>
              </a:rPr>
              <a:t>MCQ accuracy</a:t>
            </a:r>
          </a:p>
          <a:p>
            <a:endParaRPr lang="en-US" sz="1800">
              <a:solidFill>
                <a:schemeClr val="tx2"/>
              </a:solidFill>
            </a:endParaRPr>
          </a:p>
          <a:p>
            <a:endParaRPr lang="en-IN" sz="1800">
              <a:solidFill>
                <a:schemeClr val="tx2"/>
              </a:solidFill>
            </a:endParaRPr>
          </a:p>
        </p:txBody>
      </p:sp>
    </p:spTree>
    <p:extLst>
      <p:ext uri="{BB962C8B-B14F-4D97-AF65-F5344CB8AC3E}">
        <p14:creationId xmlns:p14="http://schemas.microsoft.com/office/powerpoint/2010/main" val="202266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C2E07B-CA6B-3FEF-23CE-009FD10F9251}"/>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ectangle 51">
            <a:extLst>
              <a:ext uri="{FF2B5EF4-FFF2-40B4-BE49-F238E27FC236}">
                <a16:creationId xmlns:a16="http://schemas.microsoft.com/office/drawing/2014/main" id="{3CDAD724-AF32-45EC-B0B9-360C73C9D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3" name="Right Triangle 52">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 name="Straight Connector 18">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C160184-8C98-8521-BA82-55705294B166}"/>
              </a:ext>
            </a:extLst>
          </p:cNvPr>
          <p:cNvSpPr>
            <a:spLocks noGrp="1"/>
          </p:cNvSpPr>
          <p:nvPr>
            <p:ph type="title"/>
          </p:nvPr>
        </p:nvSpPr>
        <p:spPr>
          <a:xfrm>
            <a:off x="457200" y="720772"/>
            <a:ext cx="3718767" cy="5531079"/>
          </a:xfrm>
        </p:spPr>
        <p:txBody>
          <a:bodyPr>
            <a:normAutofit/>
          </a:bodyPr>
          <a:lstStyle/>
          <a:p>
            <a:r>
              <a:rPr lang="en-US" sz="4100" b="1">
                <a:solidFill>
                  <a:schemeClr val="tx2">
                    <a:alpha val="80000"/>
                  </a:schemeClr>
                </a:solidFill>
              </a:rPr>
              <a:t>Human Review: </a:t>
            </a:r>
            <a:r>
              <a:rPr lang="en-US" sz="4100">
                <a:solidFill>
                  <a:schemeClr val="tx2">
                    <a:alpha val="80000"/>
                  </a:schemeClr>
                </a:solidFill>
              </a:rPr>
              <a:t>Logic Errors &amp; Improvements</a:t>
            </a:r>
            <a:endParaRPr lang="en-IN" sz="4100" b="1">
              <a:solidFill>
                <a:schemeClr val="tx2">
                  <a:alpha val="80000"/>
                </a:schemeClr>
              </a:solidFill>
            </a:endParaRPr>
          </a:p>
        </p:txBody>
      </p:sp>
      <p:sp>
        <p:nvSpPr>
          <p:cNvPr id="55" name="Rectangle 54">
            <a:extLst>
              <a:ext uri="{FF2B5EF4-FFF2-40B4-BE49-F238E27FC236}">
                <a16:creationId xmlns:a16="http://schemas.microsoft.com/office/drawing/2014/main" id="{BA4D4000-2689-4306-BBA6-BF744AB5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893" y="191033"/>
            <a:ext cx="7763540" cy="60655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6" name="Content Placeholder 5">
            <a:extLst>
              <a:ext uri="{FF2B5EF4-FFF2-40B4-BE49-F238E27FC236}">
                <a16:creationId xmlns:a16="http://schemas.microsoft.com/office/drawing/2014/main" id="{F6CE6EE4-69C7-70CA-8842-3D2931FB86E4}"/>
              </a:ext>
            </a:extLst>
          </p:cNvPr>
          <p:cNvGraphicFramePr>
            <a:graphicFrameLocks noGrp="1"/>
          </p:cNvGraphicFramePr>
          <p:nvPr>
            <p:ph idx="1"/>
            <p:extLst>
              <p:ext uri="{D42A27DB-BD31-4B8C-83A1-F6EECF244321}">
                <p14:modId xmlns:p14="http://schemas.microsoft.com/office/powerpoint/2010/main" val="1994232392"/>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4956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2B2D0-C522-D75B-4F21-74339B43812B}"/>
              </a:ext>
            </a:extLst>
          </p:cNvPr>
          <p:cNvSpPr>
            <a:spLocks noGrp="1"/>
          </p:cNvSpPr>
          <p:nvPr>
            <p:ph type="title"/>
          </p:nvPr>
        </p:nvSpPr>
        <p:spPr>
          <a:xfrm>
            <a:off x="457200" y="365125"/>
            <a:ext cx="3743325" cy="4283075"/>
          </a:xfrm>
        </p:spPr>
        <p:txBody>
          <a:bodyPr>
            <a:normAutofit/>
          </a:bodyPr>
          <a:lstStyle/>
          <a:p>
            <a:r>
              <a:rPr lang="en-US" dirty="0"/>
              <a:t>Human Review: Quantitative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035E74-5238-3C7F-A27D-4B4D60C87681}"/>
                  </a:ext>
                </a:extLst>
              </p:cNvPr>
              <p:cNvSpPr>
                <a:spLocks noGrp="1"/>
              </p:cNvSpPr>
              <p:nvPr>
                <p:ph idx="1"/>
              </p:nvPr>
            </p:nvSpPr>
            <p:spPr>
              <a:xfrm>
                <a:off x="3895724" y="857249"/>
                <a:ext cx="7284407" cy="5319713"/>
              </a:xfrm>
            </p:spPr>
            <p:txBody>
              <a:bodyPr/>
              <a:lstStyle/>
              <a:p>
                <a:r>
                  <a:rPr lang="en-CA" dirty="0"/>
                  <a:t>“Per-token basis” testing options:</a:t>
                </a:r>
              </a:p>
              <a:p>
                <a:pPr marL="914400" lvl="1" indent="-457200">
                  <a:buFont typeface="+mj-lt"/>
                  <a:buAutoNum type="arabicPeriod"/>
                </a:pPr>
                <a:r>
                  <a:rPr lang="en-US" dirty="0"/>
                  <a:t>Verbose output, counting every word, generating a cost-per-word, and dividing score by average cost-per-answer</a:t>
                </a:r>
              </a:p>
              <a:p>
                <a:pPr marL="914400" lvl="1" indent="-457200">
                  <a:buFont typeface="+mj-lt"/>
                  <a:buAutoNum type="arabicPeriod"/>
                </a:pPr>
                <a:r>
                  <a:rPr lang="en-US" dirty="0"/>
                  <a:t>Limit token count to ~500 for each ensemble answer, limit single-model answer to </a:t>
                </a:r>
                <a14:m>
                  <m:oMath xmlns:m="http://schemas.openxmlformats.org/officeDocument/2006/math">
                    <m:r>
                      <a:rPr lang="en-CA" b="0" i="1" smtClean="0">
                        <a:latin typeface="Cambria Math" panose="02040503050406030204" pitchFamily="18" charset="0"/>
                      </a:rPr>
                      <m:t>𝑒𝑛𝑠𝑒𝑚𝑏𝑙𝑒</m:t>
                    </m:r>
                    <m:r>
                      <a:rPr lang="en-CA" b="0" i="1" smtClean="0">
                        <a:latin typeface="Cambria Math" panose="02040503050406030204" pitchFamily="18" charset="0"/>
                      </a:rPr>
                      <m:t> </m:t>
                    </m:r>
                    <m:r>
                      <a:rPr lang="en-CA" b="0" i="1" smtClean="0">
                        <a:latin typeface="Cambria Math" panose="02040503050406030204" pitchFamily="18" charset="0"/>
                      </a:rPr>
                      <m:t>𝑡𝑜𝑘𝑒𝑛</m:t>
                    </m:r>
                    <m:r>
                      <a:rPr lang="en-CA" b="0" i="1" smtClean="0">
                        <a:latin typeface="Cambria Math" panose="02040503050406030204" pitchFamily="18" charset="0"/>
                      </a:rPr>
                      <m:t> </m:t>
                    </m:r>
                    <m:r>
                      <a:rPr lang="en-CA" b="0" i="1" smtClean="0">
                        <a:latin typeface="Cambria Math" panose="02040503050406030204" pitchFamily="18" charset="0"/>
                      </a:rPr>
                      <m:t>𝑐𝑜𝑢𝑛𝑡</m:t>
                    </m:r>
                    <m:r>
                      <a:rPr lang="en-CA" b="0" i="1" smtClean="0">
                        <a:latin typeface="Cambria Math" panose="02040503050406030204" pitchFamily="18" charset="0"/>
                      </a:rPr>
                      <m:t> × 3 (</m:t>
                    </m:r>
                    <m:r>
                      <a:rPr lang="en-CA" b="0" i="1" smtClean="0">
                        <a:latin typeface="Cambria Math" panose="02040503050406030204" pitchFamily="18" charset="0"/>
                        <a:ea typeface="Cambria Math" panose="02040503050406030204" pitchFamily="18" charset="0"/>
                      </a:rPr>
                      <m:t>𝑚𝑒𝑎𝑛</m:t>
                    </m:r>
                    <m:r>
                      <a:rPr lang="en-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𝑟𝑜𝑢𝑛𝑑𝑠</m:t>
                    </m:r>
                    <m:r>
                      <a:rPr lang="en-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𝑡𝑜</m:t>
                    </m:r>
                    <m:r>
                      <a:rPr lang="en-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𝑐𝑜𝑛𝑠𝑒𝑛𝑠𝑢𝑠</m:t>
                    </m:r>
                    <m:r>
                      <a:rPr lang="en-CA"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8D035E74-5238-3C7F-A27D-4B4D60C87681}"/>
                  </a:ext>
                </a:extLst>
              </p:cNvPr>
              <p:cNvSpPr>
                <a:spLocks noGrp="1" noRot="1" noChangeAspect="1" noMove="1" noResize="1" noEditPoints="1" noAdjustHandles="1" noChangeArrowheads="1" noChangeShapeType="1" noTextEdit="1"/>
              </p:cNvSpPr>
              <p:nvPr>
                <p:ph idx="1"/>
              </p:nvPr>
            </p:nvSpPr>
            <p:spPr>
              <a:xfrm>
                <a:off x="3895724" y="857249"/>
                <a:ext cx="7284407" cy="5319713"/>
              </a:xfrm>
              <a:blipFill>
                <a:blip r:embed="rId3"/>
                <a:stretch>
                  <a:fillRect l="-837" t="-917" r="-1674"/>
                </a:stretch>
              </a:blipFill>
            </p:spPr>
            <p:txBody>
              <a:bodyPr/>
              <a:lstStyle/>
              <a:p>
                <a:r>
                  <a:rPr lang="en-US">
                    <a:noFill/>
                  </a:rPr>
                  <a:t> </a:t>
                </a:r>
              </a:p>
            </p:txBody>
          </p:sp>
        </mc:Fallback>
      </mc:AlternateContent>
    </p:spTree>
    <p:extLst>
      <p:ext uri="{BB962C8B-B14F-4D97-AF65-F5344CB8AC3E}">
        <p14:creationId xmlns:p14="http://schemas.microsoft.com/office/powerpoint/2010/main" val="1255503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52816C4-2471-43EF-BF87-722CBC3A9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F5CC3D12-B8AA-47C0-987C-85A8C8E82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ysClr val="windowText" lastClr="000000"/>
                </a:solidFill>
              </a:ln>
              <a:solidFill>
                <a:schemeClr val="bg1"/>
              </a:solidFill>
            </a:endParaRPr>
          </a:p>
        </p:txBody>
      </p:sp>
      <p:grpSp>
        <p:nvGrpSpPr>
          <p:cNvPr id="13" name="Group 12">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Document 8">
            <a:extLst>
              <a:ext uri="{FF2B5EF4-FFF2-40B4-BE49-F238E27FC236}">
                <a16:creationId xmlns:a16="http://schemas.microsoft.com/office/drawing/2014/main" id="{334F573F-FF6A-4EB8-9C66-3D0CBF311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3" y="2285999"/>
            <a:ext cx="12217645" cy="4571997"/>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481A319-3F24-E24C-7ED6-55BE56DD50E2}"/>
              </a:ext>
            </a:extLst>
          </p:cNvPr>
          <p:cNvSpPr>
            <a:spLocks noGrp="1"/>
          </p:cNvSpPr>
          <p:nvPr>
            <p:ph type="title"/>
          </p:nvPr>
        </p:nvSpPr>
        <p:spPr>
          <a:xfrm>
            <a:off x="457200" y="720773"/>
            <a:ext cx="10744186" cy="1676260"/>
          </a:xfrm>
        </p:spPr>
        <p:txBody>
          <a:bodyPr>
            <a:normAutofit/>
          </a:bodyPr>
          <a:lstStyle/>
          <a:p>
            <a:r>
              <a:rPr lang="en-CA" dirty="0"/>
              <a:t>System Architecture: Blinded Refinement</a:t>
            </a:r>
            <a:endParaRPr lang="en-US" dirty="0"/>
          </a:p>
        </p:txBody>
      </p:sp>
      <p:graphicFrame>
        <p:nvGraphicFramePr>
          <p:cNvPr id="5" name="Content Placeholder 2">
            <a:extLst>
              <a:ext uri="{FF2B5EF4-FFF2-40B4-BE49-F238E27FC236}">
                <a16:creationId xmlns:a16="http://schemas.microsoft.com/office/drawing/2014/main" id="{2196A412-CC10-13E5-76E9-C101061C1146}"/>
              </a:ext>
            </a:extLst>
          </p:cNvPr>
          <p:cNvGraphicFramePr>
            <a:graphicFrameLocks noGrp="1"/>
          </p:cNvGraphicFramePr>
          <p:nvPr>
            <p:ph idx="1"/>
            <p:extLst>
              <p:ext uri="{D42A27DB-BD31-4B8C-83A1-F6EECF244321}">
                <p14:modId xmlns:p14="http://schemas.microsoft.com/office/powerpoint/2010/main" val="506951100"/>
              </p:ext>
            </p:extLst>
          </p:nvPr>
        </p:nvGraphicFramePr>
        <p:xfrm>
          <a:off x="457201" y="2834915"/>
          <a:ext cx="10706320" cy="3342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0267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4744570-1B8B-4AA3-569D-58EBF12D7100}"/>
              </a:ext>
            </a:extLst>
          </p:cNvPr>
          <p:cNvSpPr>
            <a:spLocks noGrp="1"/>
          </p:cNvSpPr>
          <p:nvPr>
            <p:ph type="title"/>
          </p:nvPr>
        </p:nvSpPr>
        <p:spPr>
          <a:xfrm>
            <a:off x="675799" y="145522"/>
            <a:ext cx="10754527" cy="2228755"/>
          </a:xfrm>
        </p:spPr>
        <p:txBody>
          <a:bodyPr anchor="b">
            <a:normAutofit/>
          </a:bodyPr>
          <a:lstStyle/>
          <a:p>
            <a:r>
              <a:rPr lang="en-CA" dirty="0">
                <a:solidFill>
                  <a:schemeClr val="tx2"/>
                </a:solidFill>
              </a:rPr>
              <a:t>System Architecture: Central Hub Variance</a:t>
            </a:r>
            <a:endParaRPr lang="en-US" dirty="0">
              <a:solidFill>
                <a:schemeClr val="tx2"/>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F1AD87-6B80-2743-7840-8F0F715CC64D}"/>
                  </a:ext>
                </a:extLst>
              </p:cNvPr>
              <p:cNvSpPr>
                <a:spLocks noGrp="1"/>
              </p:cNvSpPr>
              <p:nvPr>
                <p:ph idx="1"/>
              </p:nvPr>
            </p:nvSpPr>
            <p:spPr>
              <a:xfrm>
                <a:off x="767889" y="2856955"/>
                <a:ext cx="9745506" cy="2552886"/>
              </a:xfrm>
            </p:spPr>
            <p:txBody>
              <a:bodyPr anchor="t">
                <a:noAutofit/>
              </a:bodyPr>
              <a:lstStyle/>
              <a:p>
                <a:pPr marL="0" indent="0">
                  <a:lnSpc>
                    <a:spcPct val="100000"/>
                  </a:lnSpc>
                  <a:buNone/>
                </a:pPr>
                <a:r>
                  <a:rPr lang="en-CA" sz="1800" dirty="0">
                    <a:solidFill>
                      <a:schemeClr val="tx2"/>
                    </a:solidFill>
                  </a:rPr>
                  <a:t>The Confidence Formula:</a:t>
                </a:r>
              </a:p>
              <a:p>
                <a:pPr marL="0" indent="0">
                  <a:lnSpc>
                    <a:spcPct val="100000"/>
                  </a:lnSpc>
                  <a:buNone/>
                </a:pPr>
                <a:endParaRPr lang="en-CA" sz="1800" dirty="0">
                  <a:solidFill>
                    <a:schemeClr val="tx2"/>
                  </a:solidFill>
                </a:endParaRP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CA" sz="180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𝐶</m:t>
                          </m:r>
                        </m:e>
                        <m:sub>
                          <m:r>
                            <a:rPr lang="en-CA" sz="1800" b="0" i="1">
                              <a:solidFill>
                                <a:schemeClr val="tx2"/>
                              </a:solidFill>
                              <a:latin typeface="Cambria Math" panose="02040503050406030204" pitchFamily="18" charset="0"/>
                            </a:rPr>
                            <m:t>𝑓𝑖𝑛𝑎𝑙</m:t>
                          </m:r>
                        </m:sub>
                      </m:sSub>
                      <m:r>
                        <a:rPr lang="en-CA" sz="1800" b="0" i="1">
                          <a:solidFill>
                            <a:schemeClr val="tx2"/>
                          </a:solidFill>
                          <a:latin typeface="Cambria Math" panose="02040503050406030204" pitchFamily="18" charset="0"/>
                        </a:rPr>
                        <m:t>= </m:t>
                      </m:r>
                      <m:f>
                        <m:fPr>
                          <m:ctrlPr>
                            <a:rPr lang="en-CA" sz="1800" b="0" i="1">
                              <a:solidFill>
                                <a:schemeClr val="tx2"/>
                              </a:solidFill>
                              <a:latin typeface="Cambria Math" panose="02040503050406030204" pitchFamily="18" charset="0"/>
                            </a:rPr>
                          </m:ctrlPr>
                        </m:fPr>
                        <m:num>
                          <m:sSub>
                            <m:sSubPr>
                              <m:ctrlPr>
                                <a:rPr lang="en-CA" sz="1800" b="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𝜇</m:t>
                              </m:r>
                            </m:e>
                            <m:sub>
                              <m:sSub>
                                <m:sSubPr>
                                  <m:ctrlPr>
                                    <a:rPr lang="en-CA" sz="1800" b="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𝑆</m:t>
                                  </m:r>
                                </m:e>
                                <m:sub>
                                  <m:r>
                                    <a:rPr lang="en-CA" sz="1800" b="0" i="1">
                                      <a:solidFill>
                                        <a:schemeClr val="tx2"/>
                                      </a:solidFill>
                                      <a:latin typeface="Cambria Math" panose="02040503050406030204" pitchFamily="18" charset="0"/>
                                    </a:rPr>
                                    <m:t>𝑏𝑒𝑠𝑡</m:t>
                                  </m:r>
                                </m:sub>
                              </m:sSub>
                            </m:sub>
                          </m:sSub>
                        </m:num>
                        <m:den>
                          <m:sSubSup>
                            <m:sSubSupPr>
                              <m:ctrlPr>
                                <a:rPr lang="en-CA" sz="1800" b="0" i="1">
                                  <a:solidFill>
                                    <a:schemeClr val="tx2"/>
                                  </a:solidFill>
                                  <a:latin typeface="Cambria Math" panose="02040503050406030204" pitchFamily="18" charset="0"/>
                                </a:rPr>
                              </m:ctrlPr>
                            </m:sSubSupPr>
                            <m:e>
                              <m:r>
                                <a:rPr lang="en-CA" sz="1800" b="0" i="1">
                                  <a:solidFill>
                                    <a:schemeClr val="tx2"/>
                                  </a:solidFill>
                                  <a:latin typeface="Cambria Math" panose="02040503050406030204" pitchFamily="18" charset="0"/>
                                </a:rPr>
                                <m:t>𝜎</m:t>
                              </m:r>
                            </m:e>
                            <m:sub>
                              <m:r>
                                <a:rPr lang="en-CA" sz="1800" b="0" i="1">
                                  <a:solidFill>
                                    <a:schemeClr val="tx2"/>
                                  </a:solidFill>
                                  <a:latin typeface="Cambria Math" panose="02040503050406030204" pitchFamily="18" charset="0"/>
                                </a:rPr>
                                <m:t>𝑚𝑖𝑛</m:t>
                              </m:r>
                            </m:sub>
                            <m:sup>
                              <m:r>
                                <a:rPr lang="en-CA" sz="1800" b="0" i="1">
                                  <a:solidFill>
                                    <a:schemeClr val="tx2"/>
                                  </a:solidFill>
                                  <a:latin typeface="Cambria Math" panose="02040503050406030204" pitchFamily="18" charset="0"/>
                                </a:rPr>
                                <m:t>2</m:t>
                              </m:r>
                            </m:sup>
                          </m:sSubSup>
                          <m:r>
                            <a:rPr lang="en-CA" sz="1800" b="0" i="1">
                              <a:solidFill>
                                <a:schemeClr val="tx2"/>
                              </a:solidFill>
                              <a:latin typeface="Cambria Math" panose="02040503050406030204" pitchFamily="18" charset="0"/>
                            </a:rPr>
                            <m:t> </m:t>
                          </m:r>
                          <m:rad>
                            <m:radPr>
                              <m:degHide m:val="on"/>
                              <m:ctrlPr>
                                <a:rPr lang="en-CA" sz="1800" b="0" i="1">
                                  <a:solidFill>
                                    <a:schemeClr val="tx2"/>
                                  </a:solidFill>
                                  <a:latin typeface="Cambria Math" panose="02040503050406030204" pitchFamily="18" charset="0"/>
                                  <a:ea typeface="Cambria Math" panose="02040503050406030204" pitchFamily="18" charset="0"/>
                                </a:rPr>
                              </m:ctrlPr>
                            </m:radPr>
                            <m:deg/>
                            <m:e>
                              <m:r>
                                <a:rPr lang="en-CA" sz="1800" b="0" i="1">
                                  <a:solidFill>
                                    <a:schemeClr val="tx2"/>
                                  </a:solidFill>
                                  <a:latin typeface="Cambria Math" panose="02040503050406030204" pitchFamily="18" charset="0"/>
                                  <a:ea typeface="Cambria Math" panose="02040503050406030204" pitchFamily="18" charset="0"/>
                                </a:rPr>
                                <m:t>𝑁</m:t>
                              </m:r>
                            </m:e>
                          </m:rad>
                          <m:r>
                            <a:rPr lang="en-CA" sz="1800" b="0" i="1">
                              <a:solidFill>
                                <a:schemeClr val="tx2"/>
                              </a:solidFill>
                              <a:latin typeface="Cambria Math" panose="02040503050406030204" pitchFamily="18" charset="0"/>
                              <a:ea typeface="Cambria Math" panose="02040503050406030204" pitchFamily="18" charset="0"/>
                            </a:rPr>
                            <m:t>+(100 −</m:t>
                          </m:r>
                          <m:sSub>
                            <m:sSubPr>
                              <m:ctrlPr>
                                <a:rPr lang="en-CA" sz="1800" b="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𝜇</m:t>
                              </m:r>
                            </m:e>
                            <m:sub>
                              <m:sSub>
                                <m:sSubPr>
                                  <m:ctrlPr>
                                    <a:rPr lang="en-CA" sz="1800" b="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𝑆</m:t>
                                  </m:r>
                                </m:e>
                                <m:sub>
                                  <m:r>
                                    <a:rPr lang="en-CA" sz="1800" b="0" i="1">
                                      <a:solidFill>
                                        <a:schemeClr val="tx2"/>
                                      </a:solidFill>
                                      <a:latin typeface="Cambria Math" panose="02040503050406030204" pitchFamily="18" charset="0"/>
                                    </a:rPr>
                                    <m:t>𝑏𝑒𝑠𝑡</m:t>
                                  </m:r>
                                </m:sub>
                              </m:sSub>
                            </m:sub>
                          </m:sSub>
                          <m:r>
                            <a:rPr lang="en-CA" sz="1800" b="0" i="1">
                              <a:solidFill>
                                <a:schemeClr val="tx2"/>
                              </a:solidFill>
                              <a:latin typeface="Cambria Math" panose="02040503050406030204" pitchFamily="18" charset="0"/>
                            </a:rPr>
                            <m:t>)</m:t>
                          </m:r>
                        </m:den>
                      </m:f>
                    </m:oMath>
                  </m:oMathPara>
                </a14:m>
                <a:endParaRPr lang="en-CA" sz="1800" dirty="0">
                  <a:solidFill>
                    <a:schemeClr val="tx2"/>
                  </a:solidFill>
                </a:endParaRPr>
              </a:p>
              <a:p>
                <a:pPr marL="0" indent="0">
                  <a:lnSpc>
                    <a:spcPct val="100000"/>
                  </a:lnSpc>
                  <a:buNone/>
                </a:pPr>
                <a:endParaRPr lang="en-CA" sz="1800" dirty="0">
                  <a:solidFill>
                    <a:schemeClr val="tx2"/>
                  </a:solidFill>
                </a:endParaRPr>
              </a:p>
              <a:p>
                <a:pPr marL="0" indent="0">
                  <a:lnSpc>
                    <a:spcPct val="100000"/>
                  </a:lnSpc>
                  <a:buNone/>
                </a:pPr>
                <a:r>
                  <a:rPr lang="en-CA" sz="1800" dirty="0">
                    <a:solidFill>
                      <a:schemeClr val="tx2"/>
                    </a:solidFill>
                  </a:rPr>
                  <a:t>The theory:</a:t>
                </a:r>
              </a:p>
              <a:p>
                <a:pPr marL="0" indent="0">
                  <a:lnSpc>
                    <a:spcPct val="100000"/>
                  </a:lnSpc>
                  <a:buNone/>
                </a:pPr>
                <a:r>
                  <a:rPr lang="en-CA" sz="1800" dirty="0">
                    <a:solidFill>
                      <a:schemeClr val="tx2"/>
                    </a:solidFill>
                  </a:rPr>
                  <a:t>	The lowest variance, highest mean-scored round is the</a:t>
                </a:r>
              </a:p>
              <a:p>
                <a:pPr marL="0" indent="0">
                  <a:lnSpc>
                    <a:spcPct val="100000"/>
                  </a:lnSpc>
                  <a:buNone/>
                </a:pPr>
                <a:r>
                  <a:rPr lang="en-CA" sz="1800" dirty="0">
                    <a:solidFill>
                      <a:schemeClr val="tx2"/>
                    </a:solidFill>
                  </a:rPr>
                  <a:t>	one the ensemble is most confident in.</a:t>
                </a:r>
              </a:p>
            </p:txBody>
          </p:sp>
        </mc:Choice>
        <mc:Fallback xmlns="">
          <p:sp>
            <p:nvSpPr>
              <p:cNvPr id="3" name="Content Placeholder 2">
                <a:extLst>
                  <a:ext uri="{FF2B5EF4-FFF2-40B4-BE49-F238E27FC236}">
                    <a16:creationId xmlns:a16="http://schemas.microsoft.com/office/drawing/2014/main" id="{A9F1AD87-6B80-2743-7840-8F0F715CC64D}"/>
                  </a:ext>
                </a:extLst>
              </p:cNvPr>
              <p:cNvSpPr>
                <a:spLocks noGrp="1" noRot="1" noChangeAspect="1" noMove="1" noResize="1" noEditPoints="1" noAdjustHandles="1" noChangeArrowheads="1" noChangeShapeType="1" noTextEdit="1"/>
              </p:cNvSpPr>
              <p:nvPr>
                <p:ph idx="1"/>
              </p:nvPr>
            </p:nvSpPr>
            <p:spPr>
              <a:xfrm>
                <a:off x="767889" y="2856955"/>
                <a:ext cx="9745506" cy="2552886"/>
              </a:xfrm>
              <a:blipFill>
                <a:blip r:embed="rId3"/>
                <a:stretch>
                  <a:fillRect l="-563" t="-1196" b="-20335"/>
                </a:stretch>
              </a:blipFill>
            </p:spPr>
            <p:txBody>
              <a:bodyPr/>
              <a:lstStyle/>
              <a:p>
                <a:r>
                  <a:rPr lang="en-CA">
                    <a:noFill/>
                  </a:rPr>
                  <a:t> </a:t>
                </a:r>
              </a:p>
            </p:txBody>
          </p:sp>
        </mc:Fallback>
      </mc:AlternateContent>
    </p:spTree>
    <p:extLst>
      <p:ext uri="{BB962C8B-B14F-4D97-AF65-F5344CB8AC3E}">
        <p14:creationId xmlns:p14="http://schemas.microsoft.com/office/powerpoint/2010/main" val="3261962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21B645D3-580E-4657-9154-484648880E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7870DA4-44E8-43FB-940A-4AF976695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3FDA134-CD82-C9A6-353F-62353473D63F}"/>
              </a:ext>
            </a:extLst>
          </p:cNvPr>
          <p:cNvSpPr>
            <a:spLocks noGrp="1"/>
          </p:cNvSpPr>
          <p:nvPr>
            <p:ph type="title"/>
          </p:nvPr>
        </p:nvSpPr>
        <p:spPr>
          <a:xfrm>
            <a:off x="457201" y="728906"/>
            <a:ext cx="4712534" cy="5516051"/>
          </a:xfrm>
        </p:spPr>
        <p:txBody>
          <a:bodyPr anchor="t">
            <a:normAutofit/>
          </a:bodyPr>
          <a:lstStyle/>
          <a:p>
            <a:r>
              <a:rPr lang="en-CA" dirty="0">
                <a:solidFill>
                  <a:schemeClr val="tx2"/>
                </a:solidFill>
              </a:rPr>
              <a:t>Putting It Together: The Innovation</a:t>
            </a:r>
            <a:endParaRPr lang="en-US" dirty="0">
              <a:solidFill>
                <a:schemeClr val="tx2"/>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B602E4-69D6-3596-2F22-03E105F65FF9}"/>
                  </a:ext>
                </a:extLst>
              </p:cNvPr>
              <p:cNvSpPr>
                <a:spLocks noGrp="1"/>
              </p:cNvSpPr>
              <p:nvPr>
                <p:ph idx="1"/>
              </p:nvPr>
            </p:nvSpPr>
            <p:spPr>
              <a:xfrm>
                <a:off x="5388459" y="728906"/>
                <a:ext cx="5813687" cy="5545420"/>
              </a:xfrm>
            </p:spPr>
            <p:txBody>
              <a:bodyPr anchor="ctr">
                <a:normAutofit/>
              </a:bodyPr>
              <a:lstStyle/>
              <a:p>
                <a:r>
                  <a:rPr lang="en-CA" sz="1800" dirty="0">
                    <a:solidFill>
                      <a:schemeClr val="tx2"/>
                    </a:solidFill>
                  </a:rPr>
                  <a:t>Iterative Consensus Ensemble is prone to “context bloat” and sycophancy</a:t>
                </a:r>
              </a:p>
              <a:p>
                <a:pPr lvl="1"/>
                <a:r>
                  <a:rPr lang="en-CA" sz="1800" dirty="0">
                    <a:solidFill>
                      <a:schemeClr val="tx2"/>
                    </a:solidFill>
                  </a:rPr>
                  <a:t>Solution: Only pass the refined answer to the next model</a:t>
                </a:r>
              </a:p>
              <a:p>
                <a:r>
                  <a:rPr lang="en-US" sz="1800" dirty="0">
                    <a:solidFill>
                      <a:schemeClr val="tx2"/>
                    </a:solidFill>
                  </a:rPr>
                  <a:t>Variance threshold increases each full round.</a:t>
                </a:r>
              </a:p>
              <a:p>
                <a:pPr lvl="1"/>
                <a:r>
                  <a:rPr lang="en-US" sz="1800" dirty="0">
                    <a:solidFill>
                      <a:schemeClr val="tx2"/>
                    </a:solidFill>
                  </a:rPr>
                  <a:t>Stop when </a:t>
                </a:r>
                <a14:m>
                  <m:oMath xmlns:m="http://schemas.openxmlformats.org/officeDocument/2006/math">
                    <m:sSub>
                      <m:sSubPr>
                        <m:ctrlPr>
                          <a:rPr lang="en-US" sz="1800" i="1">
                            <a:solidFill>
                              <a:schemeClr val="tx2"/>
                            </a:solidFill>
                            <a:latin typeface="Cambria Math" panose="02040503050406030204" pitchFamily="18" charset="0"/>
                          </a:rPr>
                        </m:ctrlPr>
                      </m:sSubPr>
                      <m:e>
                        <m:sSup>
                          <m:sSupPr>
                            <m:ctrlPr>
                              <a:rPr lang="en-US" sz="1800" i="1">
                                <a:solidFill>
                                  <a:schemeClr val="tx2"/>
                                </a:solidFill>
                                <a:latin typeface="Cambria Math" panose="02040503050406030204" pitchFamily="18" charset="0"/>
                              </a:rPr>
                            </m:ctrlPr>
                          </m:sSupPr>
                          <m:e>
                            <m:r>
                              <a:rPr lang="en-CA" sz="1800" b="0" i="1">
                                <a:solidFill>
                                  <a:schemeClr val="tx2"/>
                                </a:solidFill>
                                <a:latin typeface="Cambria Math" panose="02040503050406030204" pitchFamily="18" charset="0"/>
                              </a:rPr>
                              <m:t>𝜎</m:t>
                            </m:r>
                          </m:e>
                          <m:sup>
                            <m:r>
                              <a:rPr lang="en-CA" sz="1800" b="0" i="1">
                                <a:solidFill>
                                  <a:schemeClr val="tx2"/>
                                </a:solidFill>
                                <a:latin typeface="Cambria Math" panose="02040503050406030204" pitchFamily="18" charset="0"/>
                              </a:rPr>
                              <m:t>2</m:t>
                            </m:r>
                          </m:sup>
                        </m:sSup>
                      </m:e>
                      <m:sub>
                        <m:sSub>
                          <m:sSubPr>
                            <m:ctrlPr>
                              <a:rPr lang="en-US" sz="180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𝑥</m:t>
                            </m:r>
                          </m:e>
                          <m:sub>
                            <m:r>
                              <a:rPr lang="en-CA" sz="1800" b="0" i="1">
                                <a:solidFill>
                                  <a:schemeClr val="tx2"/>
                                </a:solidFill>
                                <a:latin typeface="Cambria Math" panose="02040503050406030204" pitchFamily="18" charset="0"/>
                              </a:rPr>
                              <m:t>𝑛</m:t>
                            </m:r>
                          </m:sub>
                        </m:sSub>
                        <m:r>
                          <a:rPr lang="en-CA" sz="1800" b="0" i="1">
                            <a:solidFill>
                              <a:schemeClr val="tx2"/>
                            </a:solidFill>
                            <a:latin typeface="Cambria Math" panose="02040503050406030204" pitchFamily="18" charset="0"/>
                          </a:rPr>
                          <m:t>, </m:t>
                        </m:r>
                        <m:sSub>
                          <m:sSubPr>
                            <m:ctrlPr>
                              <a:rPr lang="en-US" sz="180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𝑥</m:t>
                            </m:r>
                          </m:e>
                          <m:sub>
                            <m:r>
                              <a:rPr lang="en-CA" sz="1800" b="0" i="1">
                                <a:solidFill>
                                  <a:schemeClr val="tx2"/>
                                </a:solidFill>
                                <a:latin typeface="Cambria Math" panose="02040503050406030204" pitchFamily="18" charset="0"/>
                              </a:rPr>
                              <m:t>𝑛</m:t>
                            </m:r>
                            <m:r>
                              <a:rPr lang="en-CA" sz="1800" b="0" i="1">
                                <a:solidFill>
                                  <a:schemeClr val="tx2"/>
                                </a:solidFill>
                                <a:latin typeface="Cambria Math" panose="02040503050406030204" pitchFamily="18" charset="0"/>
                              </a:rPr>
                              <m:t>−1</m:t>
                            </m:r>
                          </m:sub>
                        </m:sSub>
                        <m:r>
                          <a:rPr lang="en-CA" sz="1800" b="0" i="1">
                            <a:solidFill>
                              <a:schemeClr val="tx2"/>
                            </a:solidFill>
                            <a:latin typeface="Cambria Math" panose="02040503050406030204" pitchFamily="18" charset="0"/>
                          </a:rPr>
                          <m:t>,  </m:t>
                        </m:r>
                        <m:sSub>
                          <m:sSubPr>
                            <m:ctrlPr>
                              <a:rPr lang="en-US" sz="1800" i="1">
                                <a:solidFill>
                                  <a:schemeClr val="tx2"/>
                                </a:solidFill>
                                <a:latin typeface="Cambria Math" panose="02040503050406030204" pitchFamily="18" charset="0"/>
                              </a:rPr>
                            </m:ctrlPr>
                          </m:sSubPr>
                          <m:e>
                            <m:r>
                              <a:rPr lang="en-CA" sz="1800" b="0" i="1">
                                <a:solidFill>
                                  <a:schemeClr val="tx2"/>
                                </a:solidFill>
                                <a:latin typeface="Cambria Math" panose="02040503050406030204" pitchFamily="18" charset="0"/>
                              </a:rPr>
                              <m:t>𝑥</m:t>
                            </m:r>
                          </m:e>
                          <m:sub>
                            <m:r>
                              <a:rPr lang="en-CA" sz="1800" b="0" i="1">
                                <a:solidFill>
                                  <a:schemeClr val="tx2"/>
                                </a:solidFill>
                                <a:latin typeface="Cambria Math" panose="02040503050406030204" pitchFamily="18" charset="0"/>
                              </a:rPr>
                              <m:t>𝑛</m:t>
                            </m:r>
                            <m:r>
                              <a:rPr lang="en-CA" sz="1800" b="0" i="1">
                                <a:solidFill>
                                  <a:schemeClr val="tx2"/>
                                </a:solidFill>
                                <a:latin typeface="Cambria Math" panose="02040503050406030204" pitchFamily="18" charset="0"/>
                              </a:rPr>
                              <m:t>−2</m:t>
                            </m:r>
                          </m:sub>
                        </m:sSub>
                      </m:sub>
                    </m:sSub>
                    <m:r>
                      <a:rPr lang="en-CA" sz="1800" b="0" i="1">
                        <a:solidFill>
                          <a:schemeClr val="tx2"/>
                        </a:solidFill>
                        <a:latin typeface="Cambria Math" panose="02040503050406030204" pitchFamily="18" charset="0"/>
                      </a:rPr>
                      <m:t>&lt;</m:t>
                    </m:r>
                    <m:r>
                      <a:rPr lang="en-CA" sz="1800" b="0" i="1">
                        <a:solidFill>
                          <a:schemeClr val="tx2"/>
                        </a:solidFill>
                        <a:latin typeface="Cambria Math" panose="02040503050406030204" pitchFamily="18" charset="0"/>
                      </a:rPr>
                      <m:t>𝑉𝑎𝑟𝑖𝑎𝑛𝑐𝑒</m:t>
                    </m:r>
                    <m:r>
                      <a:rPr lang="en-CA" sz="1800" b="0" i="1">
                        <a:solidFill>
                          <a:schemeClr val="tx2"/>
                        </a:solidFill>
                        <a:latin typeface="Cambria Math" panose="02040503050406030204" pitchFamily="18" charset="0"/>
                      </a:rPr>
                      <m:t> </m:t>
                    </m:r>
                    <m:r>
                      <a:rPr lang="en-CA" sz="1800" b="0" i="1">
                        <a:solidFill>
                          <a:schemeClr val="tx2"/>
                        </a:solidFill>
                        <a:latin typeface="Cambria Math" panose="02040503050406030204" pitchFamily="18" charset="0"/>
                      </a:rPr>
                      <m:t>𝑇h𝑟𝑒𝑠h𝑜𝑙𝑑</m:t>
                    </m:r>
                  </m:oMath>
                </a14:m>
                <a:r>
                  <a:rPr lang="en-US" sz="1800" dirty="0">
                    <a:solidFill>
                      <a:schemeClr val="tx2"/>
                    </a:solidFill>
                  </a:rPr>
                  <a:t>, return lowest variance round score.</a:t>
                </a:r>
              </a:p>
              <a:p>
                <a:r>
                  <a:rPr lang="en-US" sz="1800" dirty="0">
                    <a:solidFill>
                      <a:schemeClr val="tx2"/>
                    </a:solidFill>
                  </a:rPr>
                  <a:t>In a simplified human context: “edit your colleague’s work, if you can’t find anything to fix, submit it.”</a:t>
                </a:r>
              </a:p>
            </p:txBody>
          </p:sp>
        </mc:Choice>
        <mc:Fallback>
          <p:sp>
            <p:nvSpPr>
              <p:cNvPr id="3" name="Content Placeholder 2">
                <a:extLst>
                  <a:ext uri="{FF2B5EF4-FFF2-40B4-BE49-F238E27FC236}">
                    <a16:creationId xmlns:a16="http://schemas.microsoft.com/office/drawing/2014/main" id="{E9B602E4-69D6-3596-2F22-03E105F65FF9}"/>
                  </a:ext>
                </a:extLst>
              </p:cNvPr>
              <p:cNvSpPr>
                <a:spLocks noGrp="1" noRot="1" noChangeAspect="1" noMove="1" noResize="1" noEditPoints="1" noAdjustHandles="1" noChangeArrowheads="1" noChangeShapeType="1" noTextEdit="1"/>
              </p:cNvSpPr>
              <p:nvPr>
                <p:ph idx="1"/>
              </p:nvPr>
            </p:nvSpPr>
            <p:spPr>
              <a:xfrm>
                <a:off x="5388459" y="728906"/>
                <a:ext cx="5813687" cy="5545420"/>
              </a:xfrm>
              <a:blipFill>
                <a:blip r:embed="rId3"/>
                <a:stretch>
                  <a:fillRect l="-105"/>
                </a:stretch>
              </a:blipFill>
            </p:spPr>
            <p:txBody>
              <a:bodyPr/>
              <a:lstStyle/>
              <a:p>
                <a:r>
                  <a:rPr lang="en-US">
                    <a:noFill/>
                  </a:rPr>
                  <a:t> </a:t>
                </a:r>
              </a:p>
            </p:txBody>
          </p:sp>
        </mc:Fallback>
      </mc:AlternateContent>
    </p:spTree>
    <p:extLst>
      <p:ext uri="{BB962C8B-B14F-4D97-AF65-F5344CB8AC3E}">
        <p14:creationId xmlns:p14="http://schemas.microsoft.com/office/powerpoint/2010/main" val="118650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15">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5FCBBD9-8D4E-E45A-3117-93E8261C6BB8}"/>
              </a:ext>
            </a:extLst>
          </p:cNvPr>
          <p:cNvSpPr>
            <a:spLocks noGrp="1"/>
          </p:cNvSpPr>
          <p:nvPr>
            <p:ph type="title"/>
          </p:nvPr>
        </p:nvSpPr>
        <p:spPr>
          <a:xfrm>
            <a:off x="5791200" y="732348"/>
            <a:ext cx="5410199" cy="2240735"/>
          </a:xfrm>
        </p:spPr>
        <p:txBody>
          <a:bodyPr>
            <a:normAutofit/>
          </a:bodyPr>
          <a:lstStyle/>
          <a:p>
            <a:r>
              <a:rPr lang="en-US" dirty="0">
                <a:solidFill>
                  <a:schemeClr val="tx2"/>
                </a:solidFill>
              </a:rPr>
              <a:t>Evaluation Plan and Expected Outcomes</a:t>
            </a:r>
          </a:p>
        </p:txBody>
      </p:sp>
      <p:pic>
        <p:nvPicPr>
          <p:cNvPr id="7" name="Graphic 6" descr="Bar chart">
            <a:extLst>
              <a:ext uri="{FF2B5EF4-FFF2-40B4-BE49-F238E27FC236}">
                <a16:creationId xmlns:a16="http://schemas.microsoft.com/office/drawing/2014/main" id="{41DD925E-B3E6-5273-8144-47F0F3D079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7222" y="978211"/>
            <a:ext cx="5009616" cy="5009616"/>
          </a:xfrm>
          <a:prstGeom prst="rect">
            <a:avLst/>
          </a:prstGeom>
        </p:spPr>
      </p:pic>
      <p:sp>
        <p:nvSpPr>
          <p:cNvPr id="3" name="Content Placeholder 2">
            <a:extLst>
              <a:ext uri="{FF2B5EF4-FFF2-40B4-BE49-F238E27FC236}">
                <a16:creationId xmlns:a16="http://schemas.microsoft.com/office/drawing/2014/main" id="{2275C6C1-7D59-3E9E-E27A-EE056C6AFCB7}"/>
              </a:ext>
            </a:extLst>
          </p:cNvPr>
          <p:cNvSpPr>
            <a:spLocks noGrp="1"/>
          </p:cNvSpPr>
          <p:nvPr>
            <p:ph idx="1"/>
          </p:nvPr>
        </p:nvSpPr>
        <p:spPr>
          <a:xfrm>
            <a:off x="5791200" y="3264832"/>
            <a:ext cx="5410199" cy="2980124"/>
          </a:xfrm>
        </p:spPr>
        <p:txBody>
          <a:bodyPr>
            <a:normAutofit fontScale="92500" lnSpcReduction="20000"/>
          </a:bodyPr>
          <a:lstStyle/>
          <a:p>
            <a:pPr marL="0" indent="0">
              <a:lnSpc>
                <a:spcPct val="100000"/>
              </a:lnSpc>
              <a:buClr>
                <a:schemeClr val="tx1"/>
              </a:buClr>
              <a:buNone/>
            </a:pPr>
            <a:r>
              <a:rPr lang="en-US" sz="2600" dirty="0">
                <a:solidFill>
                  <a:schemeClr val="tx2"/>
                </a:solidFill>
              </a:rPr>
              <a:t>Metrics</a:t>
            </a:r>
          </a:p>
          <a:p>
            <a:pPr lvl="1">
              <a:lnSpc>
                <a:spcPct val="100000"/>
              </a:lnSpc>
              <a:buClr>
                <a:schemeClr val="tx1"/>
              </a:buClr>
            </a:pPr>
            <a:r>
              <a:rPr lang="en-US" sz="1600" dirty="0">
                <a:solidFill>
                  <a:schemeClr val="tx2"/>
                </a:solidFill>
              </a:rPr>
              <a:t>MCQ Accuracy on MMLU-Pro</a:t>
            </a:r>
          </a:p>
          <a:p>
            <a:pPr lvl="1">
              <a:lnSpc>
                <a:spcPct val="100000"/>
              </a:lnSpc>
              <a:buClr>
                <a:schemeClr val="tx1"/>
              </a:buClr>
            </a:pPr>
            <a:r>
              <a:rPr lang="en-US" sz="1600" dirty="0">
                <a:solidFill>
                  <a:schemeClr val="tx2"/>
                </a:solidFill>
              </a:rPr>
              <a:t>Accuracy comparisons</a:t>
            </a:r>
          </a:p>
          <a:p>
            <a:pPr lvl="2">
              <a:lnSpc>
                <a:spcPct val="100000"/>
              </a:lnSpc>
              <a:buClr>
                <a:schemeClr val="tx1"/>
              </a:buClr>
            </a:pPr>
            <a:r>
              <a:rPr lang="en-US" sz="1400" i="1" dirty="0">
                <a:solidFill>
                  <a:schemeClr val="tx2"/>
                </a:solidFill>
              </a:rPr>
              <a:t>ICE documented metrics</a:t>
            </a:r>
          </a:p>
          <a:p>
            <a:pPr lvl="2">
              <a:lnSpc>
                <a:spcPct val="100000"/>
              </a:lnSpc>
              <a:buClr>
                <a:schemeClr val="tx1"/>
              </a:buClr>
            </a:pPr>
            <a:r>
              <a:rPr lang="en-US" sz="1400" i="1" dirty="0">
                <a:solidFill>
                  <a:schemeClr val="tx2"/>
                </a:solidFill>
              </a:rPr>
              <a:t>Open-source collaborative frameworks; using same models</a:t>
            </a:r>
          </a:p>
          <a:p>
            <a:pPr lvl="2">
              <a:lnSpc>
                <a:spcPct val="100000"/>
              </a:lnSpc>
              <a:buClr>
                <a:schemeClr val="tx1"/>
              </a:buClr>
            </a:pPr>
            <a:r>
              <a:rPr lang="en-US" sz="1600" dirty="0">
                <a:solidFill>
                  <a:schemeClr val="tx2"/>
                </a:solidFill>
              </a:rPr>
              <a:t>Single model performance</a:t>
            </a:r>
          </a:p>
          <a:p>
            <a:pPr lvl="3">
              <a:lnSpc>
                <a:spcPct val="100000"/>
              </a:lnSpc>
              <a:buClr>
                <a:schemeClr val="tx1"/>
              </a:buClr>
            </a:pPr>
            <a:r>
              <a:rPr lang="en-US" sz="1400" i="1" dirty="0">
                <a:solidFill>
                  <a:schemeClr val="tx2"/>
                </a:solidFill>
              </a:rPr>
              <a:t>V-</a:t>
            </a:r>
            <a:r>
              <a:rPr lang="en-US" sz="1400" i="1" dirty="0" err="1">
                <a:solidFill>
                  <a:schemeClr val="tx2"/>
                </a:solidFill>
              </a:rPr>
              <a:t>BReE</a:t>
            </a:r>
            <a:r>
              <a:rPr lang="en-US" sz="1400" i="1" dirty="0">
                <a:solidFill>
                  <a:schemeClr val="tx2"/>
                </a:solidFill>
              </a:rPr>
              <a:t> utilized models</a:t>
            </a:r>
          </a:p>
          <a:p>
            <a:pPr lvl="3">
              <a:lnSpc>
                <a:spcPct val="100000"/>
              </a:lnSpc>
              <a:buClr>
                <a:schemeClr val="tx1"/>
              </a:buClr>
            </a:pPr>
            <a:r>
              <a:rPr lang="en-US" sz="1400" i="1" dirty="0">
                <a:solidFill>
                  <a:schemeClr val="tx2"/>
                </a:solidFill>
              </a:rPr>
              <a:t>New models</a:t>
            </a:r>
          </a:p>
          <a:p>
            <a:pPr lvl="1">
              <a:lnSpc>
                <a:spcPct val="100000"/>
              </a:lnSpc>
              <a:buClr>
                <a:schemeClr val="tx1"/>
              </a:buClr>
            </a:pPr>
            <a:r>
              <a:rPr lang="en-US" sz="1600" dirty="0">
                <a:solidFill>
                  <a:schemeClr val="tx2"/>
                </a:solidFill>
              </a:rPr>
              <a:t>Token count efficiency analysis</a:t>
            </a:r>
          </a:p>
          <a:p>
            <a:pPr lvl="2">
              <a:lnSpc>
                <a:spcPct val="100000"/>
              </a:lnSpc>
              <a:buClr>
                <a:schemeClr val="tx1"/>
              </a:buClr>
            </a:pPr>
            <a:r>
              <a:rPr lang="en-US" sz="1400" i="1" dirty="0">
                <a:solidFill>
                  <a:schemeClr val="tx2"/>
                </a:solidFill>
              </a:rPr>
              <a:t>Comparison with Open-source collaborative framework token counts. </a:t>
            </a:r>
          </a:p>
          <a:p>
            <a:pPr lvl="1">
              <a:lnSpc>
                <a:spcPct val="100000"/>
              </a:lnSpc>
              <a:buClr>
                <a:schemeClr val="tx1"/>
              </a:buClr>
            </a:pPr>
            <a:r>
              <a:rPr lang="en-US" sz="1600" dirty="0">
                <a:solidFill>
                  <a:schemeClr val="tx2"/>
                </a:solidFill>
              </a:rPr>
              <a:t>Human-based logic review</a:t>
            </a:r>
          </a:p>
          <a:p>
            <a:pPr lvl="2">
              <a:lnSpc>
                <a:spcPct val="100000"/>
              </a:lnSpc>
              <a:buClr>
                <a:schemeClr val="tx1"/>
              </a:buClr>
            </a:pPr>
            <a:endParaRPr lang="en-US" sz="1100" dirty="0">
              <a:solidFill>
                <a:schemeClr val="tx2"/>
              </a:solidFill>
            </a:endParaRPr>
          </a:p>
          <a:p>
            <a:pPr lvl="2">
              <a:lnSpc>
                <a:spcPct val="100000"/>
              </a:lnSpc>
              <a:buClr>
                <a:schemeClr val="tx1"/>
              </a:buClr>
            </a:pPr>
            <a:endParaRPr lang="en-US" sz="1100" dirty="0">
              <a:solidFill>
                <a:schemeClr val="tx2"/>
              </a:solidFill>
            </a:endParaRPr>
          </a:p>
        </p:txBody>
      </p:sp>
    </p:spTree>
    <p:extLst>
      <p:ext uri="{BB962C8B-B14F-4D97-AF65-F5344CB8AC3E}">
        <p14:creationId xmlns:p14="http://schemas.microsoft.com/office/powerpoint/2010/main" val="1918845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0" name="Rectangle 49">
            <a:extLst>
              <a:ext uri="{FF2B5EF4-FFF2-40B4-BE49-F238E27FC236}">
                <a16:creationId xmlns:a16="http://schemas.microsoft.com/office/drawing/2014/main" id="{942B1D20-D329-4285-AED2-DABDCE902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Rectangle 50">
            <a:extLst>
              <a:ext uri="{FF2B5EF4-FFF2-40B4-BE49-F238E27FC236}">
                <a16:creationId xmlns:a16="http://schemas.microsoft.com/office/drawing/2014/main" id="{B9016B79-9C59-4CEA-A85C-3E4C8877B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ight Triangle 51">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8" name="Straight Connector 17">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D89A957-EFDE-19F7-59DA-DD4FED18D164}"/>
              </a:ext>
            </a:extLst>
          </p:cNvPr>
          <p:cNvSpPr>
            <a:spLocks noGrp="1"/>
          </p:cNvSpPr>
          <p:nvPr>
            <p:ph type="title"/>
          </p:nvPr>
        </p:nvSpPr>
        <p:spPr>
          <a:xfrm>
            <a:off x="457201" y="720772"/>
            <a:ext cx="3733078" cy="5531079"/>
          </a:xfrm>
        </p:spPr>
        <p:txBody>
          <a:bodyPr>
            <a:normAutofit/>
          </a:bodyPr>
          <a:lstStyle/>
          <a:p>
            <a:r>
              <a:rPr lang="en-US"/>
              <a:t>Target results</a:t>
            </a:r>
            <a:endParaRPr lang="en-US" dirty="0"/>
          </a:p>
        </p:txBody>
      </p:sp>
      <p:sp>
        <p:nvSpPr>
          <p:cNvPr id="48" name="Flowchart: Document 8">
            <a:extLst>
              <a:ext uri="{FF2B5EF4-FFF2-40B4-BE49-F238E27FC236}">
                <a16:creationId xmlns:a16="http://schemas.microsoft.com/office/drawing/2014/main" id="{6B91DA8E-00B5-4214-AFE5-535E47051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85106" y="-465509"/>
            <a:ext cx="6858001" cy="7789015"/>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4" name="Content Placeholder 2">
            <a:extLst>
              <a:ext uri="{FF2B5EF4-FFF2-40B4-BE49-F238E27FC236}">
                <a16:creationId xmlns:a16="http://schemas.microsoft.com/office/drawing/2014/main" id="{E159867F-6CF4-9C39-13CB-8E0FD3DF6761}"/>
              </a:ext>
            </a:extLst>
          </p:cNvPr>
          <p:cNvGraphicFramePr>
            <a:graphicFrameLocks noGrp="1"/>
          </p:cNvGraphicFramePr>
          <p:nvPr>
            <p:ph idx="1"/>
            <p:extLst>
              <p:ext uri="{D42A27DB-BD31-4B8C-83A1-F6EECF244321}">
                <p14:modId xmlns:p14="http://schemas.microsoft.com/office/powerpoint/2010/main" val="2354470127"/>
              </p:ext>
            </p:extLst>
          </p:nvPr>
        </p:nvGraphicFramePr>
        <p:xfrm>
          <a:off x="5165512" y="185047"/>
          <a:ext cx="6831118" cy="60599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6751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2057" name="Group 2056">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58" name="Straight Connector 2057">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088" name="Freeform: Shape 2087">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090" name="Freeform: Shape 2089">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092" name="Rectangle 2091">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2094" name="Group 2093">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95" name="Straight Connector 2094">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125" name="Freeform: Shape 2124">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127" name="Group 2126">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128" name="Straight Connector 2127">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0" name="Straight Connector 2129">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1" name="Straight Connector 2130">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2" name="Straight Connector 2131">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3" name="Straight Connector 2132">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4" name="Straight Connector 2133">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5" name="Straight Connector 2134">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6" name="Straight Connector 2135">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7" name="Straight Connector 2136">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8" name="Straight Connector 2137">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9" name="Straight Connector 2138">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0" name="Straight Connector 2139">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1" name="Straight Connector 2140">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2" name="Straight Connector 2141">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3" name="Straight Connector 2142">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4" name="Straight Connector 2143">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5" name="Straight Connector 2144">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6" name="Straight Connector 2145">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7" name="Straight Connector 2146">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8" name="Straight Connector 2147">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9" name="Straight Connector 2148">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0" name="Straight Connector 2149">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1" name="Straight Connector 2150">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2" name="Straight Connector 2151">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3" name="Straight Connector 2152">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4" name="Straight Connector 2153">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5" name="Straight Connector 2154">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6" name="Straight Connector 2155">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158" name="Rectangle 215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0" name="Rectangle 2159">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2" name="Right Triangle 216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4"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2166" name="Group 216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167" name="Straight Connector 216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8" name="Straight Connector 216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9" name="Straight Connector 216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0" name="Straight Connector 216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1" name="Straight Connector 217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2" name="Straight Connector 217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3" name="Straight Connector 217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4" name="Straight Connector 217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5" name="Straight Connector 217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6" name="Straight Connector 217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7" name="Straight Connector 217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8" name="Straight Connector 217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9" name="Straight Connector 217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0" name="Straight Connector 217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1" name="Straight Connector 218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2" name="Straight Connector 218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3" name="Straight Connector 218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4" name="Straight Connector 218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5" name="Straight Connector 218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6" name="Straight Connector 218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7" name="Straight Connector 218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8" name="Straight Connector 218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9" name="Straight Connector 218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0" name="Straight Connector 218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1" name="Straight Connector 219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2" name="Straight Connector 219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3" name="Straight Connector 219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4" name="Straight Connector 219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5" name="Straight Connector 219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F168DC96-DBE3-EADB-6B23-04B7F9D199D2}"/>
              </a:ext>
            </a:extLst>
          </p:cNvPr>
          <p:cNvSpPr>
            <a:spLocks noGrp="1"/>
          </p:cNvSpPr>
          <p:nvPr>
            <p:ph type="title"/>
          </p:nvPr>
        </p:nvSpPr>
        <p:spPr>
          <a:xfrm>
            <a:off x="457201" y="732348"/>
            <a:ext cx="4419600" cy="2240735"/>
          </a:xfrm>
        </p:spPr>
        <p:txBody>
          <a:bodyPr vert="horz" lIns="91440" tIns="45720" rIns="91440" bIns="45720" rtlCol="0" anchor="ctr">
            <a:normAutofit/>
          </a:bodyPr>
          <a:lstStyle/>
          <a:p>
            <a:r>
              <a:rPr lang="en-US">
                <a:solidFill>
                  <a:schemeClr val="tx2"/>
                </a:solidFill>
              </a:rPr>
              <a:t>Preliminary test results</a:t>
            </a:r>
          </a:p>
        </p:txBody>
      </p:sp>
      <p:sp>
        <p:nvSpPr>
          <p:cNvPr id="5" name="Text Placeholder 4">
            <a:extLst>
              <a:ext uri="{FF2B5EF4-FFF2-40B4-BE49-F238E27FC236}">
                <a16:creationId xmlns:a16="http://schemas.microsoft.com/office/drawing/2014/main" id="{570C2059-846A-29FD-0354-3345A98DAC06}"/>
              </a:ext>
            </a:extLst>
          </p:cNvPr>
          <p:cNvSpPr>
            <a:spLocks noGrp="1"/>
          </p:cNvSpPr>
          <p:nvPr>
            <p:ph type="body" sz="half" idx="2"/>
          </p:nvPr>
        </p:nvSpPr>
        <p:spPr>
          <a:xfrm>
            <a:off x="457201" y="3264832"/>
            <a:ext cx="4419600" cy="2983568"/>
          </a:xfrm>
        </p:spPr>
        <p:txBody>
          <a:bodyPr vert="horz" lIns="91440" tIns="45720" rIns="91440" bIns="45720" rtlCol="0">
            <a:normAutofit/>
          </a:bodyPr>
          <a:lstStyle/>
          <a:p>
            <a:pPr marL="228600" indent="-228600">
              <a:lnSpc>
                <a:spcPct val="100000"/>
              </a:lnSpc>
              <a:buClr>
                <a:schemeClr val="tx1"/>
              </a:buClr>
              <a:buFont typeface="+mj-lt"/>
              <a:buAutoNum type="arabicPeriod"/>
            </a:pPr>
            <a:r>
              <a:rPr lang="en-US" sz="1700" dirty="0">
                <a:solidFill>
                  <a:schemeClr val="tx2"/>
                </a:solidFill>
              </a:rPr>
              <a:t>Functional testing done with a small sample of 35 questions shows a promising hint of possible accuracy improvements over the constituent models.</a:t>
            </a:r>
          </a:p>
          <a:p>
            <a:pPr marL="228600" indent="-228600">
              <a:lnSpc>
                <a:spcPct val="100000"/>
              </a:lnSpc>
              <a:buFont typeface="+mj-lt"/>
              <a:buAutoNum type="arabicPeriod"/>
            </a:pPr>
            <a:endParaRPr lang="en-US" sz="1700" dirty="0">
              <a:solidFill>
                <a:schemeClr val="tx2"/>
              </a:solidFill>
            </a:endParaRPr>
          </a:p>
          <a:p>
            <a:pPr marL="228600" indent="-228600">
              <a:lnSpc>
                <a:spcPct val="100000"/>
              </a:lnSpc>
              <a:buClr>
                <a:schemeClr val="tx1"/>
              </a:buClr>
              <a:buFont typeface="+mj-lt"/>
              <a:buAutoNum type="arabicPeriod"/>
            </a:pPr>
            <a:r>
              <a:rPr lang="en-US" sz="1700" dirty="0">
                <a:solidFill>
                  <a:schemeClr val="tx2"/>
                </a:solidFill>
              </a:rPr>
              <a:t>Additional rigorous testing will be necessary to determine what, if any, true impact the V-</a:t>
            </a:r>
            <a:r>
              <a:rPr lang="en-US" sz="1700" dirty="0" err="1">
                <a:solidFill>
                  <a:schemeClr val="tx2"/>
                </a:solidFill>
              </a:rPr>
              <a:t>BReE</a:t>
            </a:r>
            <a:r>
              <a:rPr lang="en-US" sz="1700" dirty="0">
                <a:solidFill>
                  <a:schemeClr val="tx2"/>
                </a:solidFill>
              </a:rPr>
              <a:t> framework has on response accuracy.</a:t>
            </a:r>
          </a:p>
        </p:txBody>
      </p:sp>
      <p:pic>
        <p:nvPicPr>
          <p:cNvPr id="2050" name="Picture 2">
            <a:extLst>
              <a:ext uri="{FF2B5EF4-FFF2-40B4-BE49-F238E27FC236}">
                <a16:creationId xmlns:a16="http://schemas.microsoft.com/office/drawing/2014/main" id="{01387F1A-8F22-E28B-CF5E-91BCF5BB86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203767" y="895484"/>
            <a:ext cx="6795701" cy="5215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799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409E43C-2413-350E-918B-87FFE412B31F}"/>
              </a:ext>
            </a:extLst>
          </p:cNvPr>
          <p:cNvSpPr>
            <a:spLocks noGrp="1"/>
          </p:cNvSpPr>
          <p:nvPr>
            <p:ph type="title"/>
          </p:nvPr>
        </p:nvSpPr>
        <p:spPr>
          <a:xfrm>
            <a:off x="457200" y="728906"/>
            <a:ext cx="10754527" cy="2228755"/>
          </a:xfrm>
        </p:spPr>
        <p:txBody>
          <a:bodyPr anchor="b">
            <a:normAutofit/>
          </a:bodyPr>
          <a:lstStyle/>
          <a:p>
            <a:r>
              <a:rPr lang="en-US">
                <a:solidFill>
                  <a:schemeClr val="tx2"/>
                </a:solidFill>
              </a:rPr>
              <a:t>Expected Contributions</a:t>
            </a:r>
          </a:p>
        </p:txBody>
      </p:sp>
      <p:sp>
        <p:nvSpPr>
          <p:cNvPr id="3" name="Content Placeholder 2">
            <a:extLst>
              <a:ext uri="{FF2B5EF4-FFF2-40B4-BE49-F238E27FC236}">
                <a16:creationId xmlns:a16="http://schemas.microsoft.com/office/drawing/2014/main" id="{050102A6-6A47-4B72-14AB-87BB64DF0967}"/>
              </a:ext>
            </a:extLst>
          </p:cNvPr>
          <p:cNvSpPr>
            <a:spLocks noGrp="1"/>
          </p:cNvSpPr>
          <p:nvPr>
            <p:ph idx="1"/>
          </p:nvPr>
        </p:nvSpPr>
        <p:spPr>
          <a:xfrm>
            <a:off x="457201" y="3257633"/>
            <a:ext cx="9745506" cy="2552886"/>
          </a:xfrm>
        </p:spPr>
        <p:txBody>
          <a:bodyPr anchor="t">
            <a:normAutofit/>
          </a:bodyPr>
          <a:lstStyle/>
          <a:p>
            <a:pPr>
              <a:buClr>
                <a:schemeClr val="tx1"/>
              </a:buClr>
            </a:pPr>
            <a:r>
              <a:rPr lang="en-US" sz="1800" dirty="0">
                <a:solidFill>
                  <a:schemeClr val="tx2"/>
                </a:solidFill>
              </a:rPr>
              <a:t>V-</a:t>
            </a:r>
            <a:r>
              <a:rPr lang="en-US" sz="1800" dirty="0" err="1">
                <a:solidFill>
                  <a:schemeClr val="tx2"/>
                </a:solidFill>
              </a:rPr>
              <a:t>BReE</a:t>
            </a:r>
            <a:r>
              <a:rPr lang="en-US" sz="1800" dirty="0">
                <a:solidFill>
                  <a:schemeClr val="tx2"/>
                </a:solidFill>
              </a:rPr>
              <a:t> framework programmed in Python, which introduces a novel variance-</a:t>
            </a:r>
            <a:r>
              <a:rPr lang="en-US" sz="1800" dirty="0" err="1">
                <a:solidFill>
                  <a:schemeClr val="tx2"/>
                </a:solidFill>
              </a:rPr>
              <a:t>thresholded</a:t>
            </a:r>
            <a:r>
              <a:rPr lang="en-US" sz="1800" dirty="0">
                <a:solidFill>
                  <a:schemeClr val="tx2"/>
                </a:solidFill>
              </a:rPr>
              <a:t> refinement technique.</a:t>
            </a:r>
          </a:p>
          <a:p>
            <a:pPr>
              <a:buClr>
                <a:schemeClr val="tx1"/>
              </a:buClr>
            </a:pPr>
            <a:r>
              <a:rPr lang="en-US" sz="1800" dirty="0">
                <a:solidFill>
                  <a:schemeClr val="tx2"/>
                </a:solidFill>
              </a:rPr>
              <a:t>A qualitative method for assessing the response confidence of the ensemble.</a:t>
            </a:r>
          </a:p>
          <a:p>
            <a:pPr>
              <a:buClr>
                <a:schemeClr val="tx1"/>
              </a:buClr>
            </a:pPr>
            <a:r>
              <a:rPr lang="en-US" sz="1800" dirty="0">
                <a:solidFill>
                  <a:schemeClr val="tx2"/>
                </a:solidFill>
              </a:rPr>
              <a:t>A paper documenting the development and testing of the </a:t>
            </a:r>
            <a:r>
              <a:rPr lang="en-US" sz="1800" dirty="0" err="1">
                <a:solidFill>
                  <a:schemeClr val="tx2"/>
                </a:solidFill>
              </a:rPr>
              <a:t>VBReE</a:t>
            </a:r>
            <a:r>
              <a:rPr lang="en-US" sz="1800" dirty="0">
                <a:solidFill>
                  <a:schemeClr val="tx2"/>
                </a:solidFill>
              </a:rPr>
              <a:t> framework.</a:t>
            </a:r>
          </a:p>
          <a:p>
            <a:endParaRPr lang="en-US" sz="1800" dirty="0">
              <a:solidFill>
                <a:schemeClr val="tx2"/>
              </a:solidFill>
            </a:endParaRPr>
          </a:p>
        </p:txBody>
      </p:sp>
    </p:spTree>
    <p:extLst>
      <p:ext uri="{BB962C8B-B14F-4D97-AF65-F5344CB8AC3E}">
        <p14:creationId xmlns:p14="http://schemas.microsoft.com/office/powerpoint/2010/main" val="463113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E5ABD71-4B76-36D9-9BC8-C624CE8C482D}"/>
              </a:ext>
            </a:extLst>
          </p:cNvPr>
          <p:cNvSpPr>
            <a:spLocks noGrp="1"/>
          </p:cNvSpPr>
          <p:nvPr>
            <p:ph type="title"/>
          </p:nvPr>
        </p:nvSpPr>
        <p:spPr>
          <a:xfrm>
            <a:off x="457200" y="728906"/>
            <a:ext cx="10754527" cy="2228755"/>
          </a:xfrm>
        </p:spPr>
        <p:txBody>
          <a:bodyPr anchor="b">
            <a:normAutofit/>
          </a:bodyPr>
          <a:lstStyle/>
          <a:p>
            <a:r>
              <a:rPr lang="en-US">
                <a:solidFill>
                  <a:schemeClr val="tx2"/>
                </a:solidFill>
              </a:rPr>
              <a:t>Timeline</a:t>
            </a:r>
          </a:p>
        </p:txBody>
      </p:sp>
      <p:sp>
        <p:nvSpPr>
          <p:cNvPr id="3" name="Content Placeholder 2">
            <a:extLst>
              <a:ext uri="{FF2B5EF4-FFF2-40B4-BE49-F238E27FC236}">
                <a16:creationId xmlns:a16="http://schemas.microsoft.com/office/drawing/2014/main" id="{80F48EEE-76DC-F5B6-29F9-B4B56A7432C6}"/>
              </a:ext>
            </a:extLst>
          </p:cNvPr>
          <p:cNvSpPr>
            <a:spLocks noGrp="1"/>
          </p:cNvSpPr>
          <p:nvPr>
            <p:ph idx="1"/>
          </p:nvPr>
        </p:nvSpPr>
        <p:spPr>
          <a:xfrm>
            <a:off x="457201" y="3257633"/>
            <a:ext cx="9745506" cy="2552886"/>
          </a:xfrm>
        </p:spPr>
        <p:txBody>
          <a:bodyPr anchor="t">
            <a:normAutofit/>
          </a:bodyPr>
          <a:lstStyle/>
          <a:p>
            <a:pPr marL="0" indent="0">
              <a:buClr>
                <a:schemeClr val="tx1"/>
              </a:buClr>
              <a:buNone/>
            </a:pPr>
            <a:r>
              <a:rPr lang="en-US" dirty="0">
                <a:solidFill>
                  <a:schemeClr val="tx2"/>
                </a:solidFill>
              </a:rPr>
              <a:t>Key Milestones</a:t>
            </a:r>
          </a:p>
          <a:p>
            <a:pPr lvl="1">
              <a:buClr>
                <a:schemeClr val="tx1"/>
              </a:buClr>
            </a:pPr>
            <a:r>
              <a:rPr lang="en-US" sz="1800" dirty="0">
                <a:solidFill>
                  <a:schemeClr val="tx2"/>
                </a:solidFill>
              </a:rPr>
              <a:t>V-</a:t>
            </a:r>
            <a:r>
              <a:rPr lang="en-US" sz="1800" dirty="0" err="1">
                <a:solidFill>
                  <a:schemeClr val="tx2"/>
                </a:solidFill>
              </a:rPr>
              <a:t>BReE</a:t>
            </a:r>
            <a:r>
              <a:rPr lang="en-US" sz="1800" dirty="0">
                <a:solidFill>
                  <a:schemeClr val="tx2"/>
                </a:solidFill>
              </a:rPr>
              <a:t> Python code complete – March 1</a:t>
            </a:r>
            <a:r>
              <a:rPr lang="en-US" sz="1800" baseline="30000" dirty="0">
                <a:solidFill>
                  <a:schemeClr val="tx2"/>
                </a:solidFill>
              </a:rPr>
              <a:t>st</a:t>
            </a:r>
            <a:endParaRPr lang="en-US" sz="1800" dirty="0">
              <a:solidFill>
                <a:schemeClr val="tx2"/>
              </a:solidFill>
            </a:endParaRPr>
          </a:p>
          <a:p>
            <a:pPr lvl="1">
              <a:buClr>
                <a:schemeClr val="tx1"/>
              </a:buClr>
            </a:pPr>
            <a:r>
              <a:rPr lang="en-US" sz="1800" dirty="0">
                <a:solidFill>
                  <a:schemeClr val="tx2"/>
                </a:solidFill>
              </a:rPr>
              <a:t>MMLU-PRO accuracy data collection complete – March 2</a:t>
            </a:r>
            <a:r>
              <a:rPr lang="en-US" sz="1800" baseline="30000" dirty="0">
                <a:solidFill>
                  <a:schemeClr val="tx2"/>
                </a:solidFill>
              </a:rPr>
              <a:t>nd</a:t>
            </a:r>
          </a:p>
          <a:p>
            <a:pPr lvl="1">
              <a:buClr>
                <a:schemeClr val="tx1"/>
              </a:buClr>
            </a:pPr>
            <a:r>
              <a:rPr lang="en-US" sz="1800" dirty="0">
                <a:solidFill>
                  <a:schemeClr val="tx2"/>
                </a:solidFill>
              </a:rPr>
              <a:t>MMLU-PRO accuracy data analysis complete – March 4th</a:t>
            </a:r>
            <a:endParaRPr lang="en-US" sz="1800" baseline="30000" dirty="0">
              <a:solidFill>
                <a:schemeClr val="tx2"/>
              </a:solidFill>
            </a:endParaRPr>
          </a:p>
          <a:p>
            <a:pPr lvl="1">
              <a:buClr>
                <a:schemeClr val="tx1"/>
              </a:buClr>
            </a:pPr>
            <a:r>
              <a:rPr lang="en-US" sz="1800" dirty="0">
                <a:solidFill>
                  <a:schemeClr val="tx2"/>
                </a:solidFill>
              </a:rPr>
              <a:t>Confidence score tuning complete – March 9</a:t>
            </a:r>
            <a:r>
              <a:rPr lang="en-US" sz="1800" baseline="30000" dirty="0">
                <a:solidFill>
                  <a:schemeClr val="tx2"/>
                </a:solidFill>
              </a:rPr>
              <a:t>th</a:t>
            </a:r>
            <a:endParaRPr lang="en-US" sz="1800" dirty="0">
              <a:solidFill>
                <a:schemeClr val="tx2"/>
              </a:solidFill>
            </a:endParaRPr>
          </a:p>
          <a:p>
            <a:pPr lvl="1">
              <a:buClr>
                <a:schemeClr val="tx1"/>
              </a:buClr>
            </a:pPr>
            <a:r>
              <a:rPr lang="en-US" sz="1800" dirty="0">
                <a:solidFill>
                  <a:schemeClr val="tx2"/>
                </a:solidFill>
              </a:rPr>
              <a:t>Human-based logic assessment complete – March 14th</a:t>
            </a:r>
          </a:p>
        </p:txBody>
      </p:sp>
    </p:spTree>
    <p:extLst>
      <p:ext uri="{BB962C8B-B14F-4D97-AF65-F5344CB8AC3E}">
        <p14:creationId xmlns:p14="http://schemas.microsoft.com/office/powerpoint/2010/main" val="2702495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2" name="Rectangle 61">
            <a:extLst>
              <a:ext uri="{FF2B5EF4-FFF2-40B4-BE49-F238E27FC236}">
                <a16:creationId xmlns:a16="http://schemas.microsoft.com/office/drawing/2014/main" id="{5B62175A-9061-4508-B024-671E2C3C3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4" name="Right Triangle 63">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65">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214827" cy="6858000"/>
            <a:chOff x="-6214" y="-1"/>
            <a:chExt cx="12214827" cy="6858000"/>
          </a:xfrm>
        </p:grpSpPr>
        <p:cxnSp>
          <p:nvCxnSpPr>
            <p:cNvPr id="67" name="Straight Connector 66">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97" name="Rectangle 96">
            <a:extLst>
              <a:ext uri="{FF2B5EF4-FFF2-40B4-BE49-F238E27FC236}">
                <a16:creationId xmlns:a16="http://schemas.microsoft.com/office/drawing/2014/main" id="{7D7F7755-C305-4B28-8A86-8EA889812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BA0B40DA-646E-2A64-95B4-588D61632AC1}"/>
              </a:ext>
            </a:extLst>
          </p:cNvPr>
          <p:cNvSpPr>
            <a:spLocks noGrp="1"/>
          </p:cNvSpPr>
          <p:nvPr>
            <p:ph type="title"/>
          </p:nvPr>
        </p:nvSpPr>
        <p:spPr>
          <a:xfrm>
            <a:off x="304804" y="339991"/>
            <a:ext cx="11502142" cy="1499851"/>
          </a:xfrm>
        </p:spPr>
        <p:txBody>
          <a:bodyPr>
            <a:normAutofit/>
          </a:bodyPr>
          <a:lstStyle/>
          <a:p>
            <a:pPr algn="ctr"/>
            <a:r>
              <a:rPr lang="en-US">
                <a:solidFill>
                  <a:schemeClr val="tx2">
                    <a:alpha val="80000"/>
                  </a:schemeClr>
                </a:solidFill>
              </a:rPr>
              <a:t>Timeline</a:t>
            </a:r>
          </a:p>
        </p:txBody>
      </p:sp>
      <p:graphicFrame>
        <p:nvGraphicFramePr>
          <p:cNvPr id="7" name="Content Placeholder 6">
            <a:extLst>
              <a:ext uri="{FF2B5EF4-FFF2-40B4-BE49-F238E27FC236}">
                <a16:creationId xmlns:a16="http://schemas.microsoft.com/office/drawing/2014/main" id="{B1C923F2-F7C2-1733-2897-77B658BB4E59}"/>
              </a:ext>
            </a:extLst>
          </p:cNvPr>
          <p:cNvGraphicFramePr>
            <a:graphicFrameLocks noGrp="1"/>
          </p:cNvGraphicFramePr>
          <p:nvPr>
            <p:ph idx="1"/>
            <p:extLst>
              <p:ext uri="{D42A27DB-BD31-4B8C-83A1-F6EECF244321}">
                <p14:modId xmlns:p14="http://schemas.microsoft.com/office/powerpoint/2010/main" val="1070254943"/>
              </p:ext>
            </p:extLst>
          </p:nvPr>
        </p:nvGraphicFramePr>
        <p:xfrm>
          <a:off x="319761" y="2057416"/>
          <a:ext cx="11472226" cy="3976572"/>
        </p:xfrm>
        <a:graphic>
          <a:graphicData uri="http://schemas.openxmlformats.org/drawingml/2006/table">
            <a:tbl>
              <a:tblPr firstRow="1" bandRow="1">
                <a:tableStyleId>{8EC20E35-A176-4012-BC5E-935CFFF8708E}</a:tableStyleId>
              </a:tblPr>
              <a:tblGrid>
                <a:gridCol w="866147">
                  <a:extLst>
                    <a:ext uri="{9D8B030D-6E8A-4147-A177-3AD203B41FA5}">
                      <a16:colId xmlns:a16="http://schemas.microsoft.com/office/drawing/2014/main" val="3556596313"/>
                    </a:ext>
                  </a:extLst>
                </a:gridCol>
                <a:gridCol w="798093">
                  <a:extLst>
                    <a:ext uri="{9D8B030D-6E8A-4147-A177-3AD203B41FA5}">
                      <a16:colId xmlns:a16="http://schemas.microsoft.com/office/drawing/2014/main" val="2493591657"/>
                    </a:ext>
                  </a:extLst>
                </a:gridCol>
                <a:gridCol w="1712742">
                  <a:extLst>
                    <a:ext uri="{9D8B030D-6E8A-4147-A177-3AD203B41FA5}">
                      <a16:colId xmlns:a16="http://schemas.microsoft.com/office/drawing/2014/main" val="2858862458"/>
                    </a:ext>
                  </a:extLst>
                </a:gridCol>
                <a:gridCol w="3116742">
                  <a:extLst>
                    <a:ext uri="{9D8B030D-6E8A-4147-A177-3AD203B41FA5}">
                      <a16:colId xmlns:a16="http://schemas.microsoft.com/office/drawing/2014/main" val="2826765540"/>
                    </a:ext>
                  </a:extLst>
                </a:gridCol>
                <a:gridCol w="1458298">
                  <a:extLst>
                    <a:ext uri="{9D8B030D-6E8A-4147-A177-3AD203B41FA5}">
                      <a16:colId xmlns:a16="http://schemas.microsoft.com/office/drawing/2014/main" val="920229182"/>
                    </a:ext>
                  </a:extLst>
                </a:gridCol>
                <a:gridCol w="1021314">
                  <a:extLst>
                    <a:ext uri="{9D8B030D-6E8A-4147-A177-3AD203B41FA5}">
                      <a16:colId xmlns:a16="http://schemas.microsoft.com/office/drawing/2014/main" val="3937484318"/>
                    </a:ext>
                  </a:extLst>
                </a:gridCol>
                <a:gridCol w="1362579">
                  <a:extLst>
                    <a:ext uri="{9D8B030D-6E8A-4147-A177-3AD203B41FA5}">
                      <a16:colId xmlns:a16="http://schemas.microsoft.com/office/drawing/2014/main" val="1661898044"/>
                    </a:ext>
                  </a:extLst>
                </a:gridCol>
                <a:gridCol w="1136311">
                  <a:extLst>
                    <a:ext uri="{9D8B030D-6E8A-4147-A177-3AD203B41FA5}">
                      <a16:colId xmlns:a16="http://schemas.microsoft.com/office/drawing/2014/main" val="1643470945"/>
                    </a:ext>
                  </a:extLst>
                </a:gridCol>
              </a:tblGrid>
              <a:tr h="705421">
                <a:tc>
                  <a:txBody>
                    <a:bodyPr/>
                    <a:lstStyle/>
                    <a:p>
                      <a:pPr algn="ctr" rtl="0" fontAlgn="ctr">
                        <a:buNone/>
                      </a:pPr>
                      <a:r>
                        <a:rPr lang="en-US" sz="1400" u="none" strike="noStrike" dirty="0">
                          <a:effectLst/>
                        </a:rPr>
                        <a:t>Item Number</a:t>
                      </a:r>
                      <a:endParaRPr lang="en-US" sz="1400" b="1" i="0" u="none" strike="noStrike" dirty="0">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400" u="none" strike="noStrike" dirty="0">
                          <a:effectLst/>
                        </a:rPr>
                        <a:t>Date</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Incomplete Dependencies</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Milestone / Task</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Status</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Owner</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Days From Previous Milestone</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Days From Today</a:t>
                      </a:r>
                      <a:endParaRPr lang="en-US" sz="1400" b="1" i="0" u="none" strike="noStrike" dirty="0">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1121764902"/>
                  </a:ext>
                </a:extLst>
              </a:tr>
              <a:tr h="203351">
                <a:tc>
                  <a:txBody>
                    <a:bodyPr/>
                    <a:lstStyle/>
                    <a:p>
                      <a:pPr algn="ctr" rtl="0" fontAlgn="ctr">
                        <a:buNone/>
                      </a:pPr>
                      <a:r>
                        <a:rPr lang="en-US" sz="1000" u="none" strike="noStrike">
                          <a:effectLst/>
                        </a:rPr>
                        <a:t>1</a:t>
                      </a:r>
                      <a:endParaRPr lang="en-US" sz="1000" b="1"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12-Feb</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Prototype</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Completed</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0</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-8</a:t>
                      </a:r>
                      <a:endParaRPr lang="en-US" sz="1000" b="1"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4237074828"/>
                  </a:ext>
                </a:extLst>
              </a:tr>
              <a:tr h="203351">
                <a:tc>
                  <a:txBody>
                    <a:bodyPr/>
                    <a:lstStyle/>
                    <a:p>
                      <a:pPr algn="ctr" rtl="0" fontAlgn="ctr">
                        <a:buNone/>
                      </a:pPr>
                      <a:r>
                        <a:rPr lang="en-US" sz="1000" b="1" u="none" strike="noStrike">
                          <a:effectLst/>
                        </a:rPr>
                        <a:t>2</a:t>
                      </a:r>
                      <a:endParaRPr lang="en-US" sz="1000" b="1"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b="1" u="none" strike="noStrike">
                          <a:effectLst/>
                        </a:rPr>
                        <a:t>13-Feb</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Project Proposal</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Completed</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1</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-7</a:t>
                      </a:r>
                      <a:endParaRPr lang="en-US" sz="1000" b="1"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4286294019"/>
                  </a:ext>
                </a:extLst>
              </a:tr>
              <a:tr h="360248">
                <a:tc>
                  <a:txBody>
                    <a:bodyPr/>
                    <a:lstStyle/>
                    <a:p>
                      <a:pPr algn="ctr" rtl="0" fontAlgn="ctr">
                        <a:buNone/>
                      </a:pPr>
                      <a:r>
                        <a:rPr lang="en-US" sz="1000" u="none" strike="noStrike">
                          <a:effectLst/>
                        </a:rPr>
                        <a:t>3</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22-Feb</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Midterm Presentation Development Complete</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In Progress</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Content - All</a:t>
                      </a:r>
                      <a:br>
                        <a:rPr lang="en-US" sz="1000" u="none" strike="noStrike">
                          <a:effectLst/>
                        </a:rPr>
                      </a:br>
                      <a:r>
                        <a:rPr lang="en-US" sz="1000" u="none" strike="noStrike">
                          <a:effectLst/>
                        </a:rPr>
                        <a:t>Slides - Milad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9</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2</a:t>
                      </a:r>
                      <a:endParaRPr lang="en-US" sz="1000" b="0"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4043684223"/>
                  </a:ext>
                </a:extLst>
              </a:tr>
              <a:tr h="203351">
                <a:tc>
                  <a:txBody>
                    <a:bodyPr/>
                    <a:lstStyle/>
                    <a:p>
                      <a:pPr algn="ctr" rtl="0" fontAlgn="ctr">
                        <a:buNone/>
                      </a:pPr>
                      <a:r>
                        <a:rPr lang="en-US" sz="1000" b="1" u="none" strike="noStrike">
                          <a:effectLst/>
                        </a:rPr>
                        <a:t>4</a:t>
                      </a:r>
                      <a:endParaRPr lang="en-US" sz="1000" b="1"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b="1" u="none" strike="noStrike">
                          <a:effectLst/>
                        </a:rPr>
                        <a:t>23-Feb</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3</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Submit Midterm Slides</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Planned</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Milad</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-1</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3</a:t>
                      </a:r>
                      <a:endParaRPr lang="en-US" sz="1000" b="1"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4079105651"/>
                  </a:ext>
                </a:extLst>
              </a:tr>
              <a:tr h="203351">
                <a:tc>
                  <a:txBody>
                    <a:bodyPr/>
                    <a:lstStyle/>
                    <a:p>
                      <a:pPr algn="ctr" rtl="0" fontAlgn="ctr">
                        <a:buNone/>
                      </a:pPr>
                      <a:r>
                        <a:rPr lang="en-US" sz="1000" b="1" u="none" strike="noStrike">
                          <a:effectLst/>
                        </a:rPr>
                        <a:t>5</a:t>
                      </a:r>
                      <a:endParaRPr lang="en-US" sz="1000" b="1"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b="1" u="none" strike="noStrike">
                          <a:effectLst/>
                        </a:rPr>
                        <a:t>24-Feb</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3, 4</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Midterm Presentation</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Planned</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All</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2</a:t>
                      </a:r>
                      <a:endParaRPr lang="en-US" sz="1000" b="1"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b="1" u="none" strike="noStrike">
                          <a:effectLst/>
                        </a:rPr>
                        <a:t>4</a:t>
                      </a:r>
                      <a:endParaRPr lang="en-US" sz="1000" b="1"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3670355276"/>
                  </a:ext>
                </a:extLst>
              </a:tr>
              <a:tr h="203351">
                <a:tc>
                  <a:txBody>
                    <a:bodyPr/>
                    <a:lstStyle/>
                    <a:p>
                      <a:pPr algn="ctr" rtl="0" fontAlgn="ctr">
                        <a:buNone/>
                      </a:pPr>
                      <a:r>
                        <a:rPr lang="en-US" sz="1000" u="none" strike="noStrike">
                          <a:effectLst/>
                        </a:rPr>
                        <a:t>6</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27-Feb</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Open source collaborative frameworks identified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4</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7</a:t>
                      </a:r>
                      <a:endParaRPr lang="en-US" sz="1000" b="0"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391415936"/>
                  </a:ext>
                </a:extLst>
              </a:tr>
              <a:tr h="203351">
                <a:tc>
                  <a:txBody>
                    <a:bodyPr/>
                    <a:lstStyle/>
                    <a:p>
                      <a:pPr algn="ctr" rtl="0" fontAlgn="ctr">
                        <a:buNone/>
                      </a:pPr>
                      <a:r>
                        <a:rPr lang="en-US" sz="1000" u="none" strike="noStrike">
                          <a:effectLst/>
                        </a:rPr>
                        <a:t>7</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27-Feb</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Model Selection Complete</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0</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7</a:t>
                      </a:r>
                      <a:endParaRPr lang="en-US" sz="1000" b="0"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464651877"/>
                  </a:ext>
                </a:extLst>
              </a:tr>
              <a:tr h="203351">
                <a:tc>
                  <a:txBody>
                    <a:bodyPr/>
                    <a:lstStyle/>
                    <a:p>
                      <a:pPr algn="ctr" rtl="0" fontAlgn="ctr">
                        <a:buNone/>
                      </a:pPr>
                      <a:r>
                        <a:rPr lang="en-US" sz="1000" u="none" strike="noStrike">
                          <a:effectLst/>
                          <a:highlight>
                            <a:srgbClr val="FFFF00"/>
                          </a:highlight>
                        </a:rPr>
                        <a:t>8</a:t>
                      </a:r>
                      <a:endParaRPr lang="en-US" sz="1000" b="0" i="0" u="none" strike="noStrike">
                        <a:solidFill>
                          <a:srgbClr val="1F1F1F"/>
                        </a:solidFill>
                        <a:effectLst/>
                        <a:highlight>
                          <a:srgbClr val="FFFF00"/>
                        </a:highligh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highlight>
                            <a:srgbClr val="FFFF00"/>
                          </a:highlight>
                        </a:rPr>
                        <a:t>1-Mar</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dirty="0">
                          <a:effectLst/>
                          <a:highlight>
                            <a:srgbClr val="FFFF00"/>
                          </a:highlight>
                        </a:rPr>
                        <a:t>V-</a:t>
                      </a:r>
                      <a:r>
                        <a:rPr lang="en-US" sz="1000" u="none" strike="noStrike" dirty="0" err="1">
                          <a:effectLst/>
                          <a:highlight>
                            <a:srgbClr val="FFFF00"/>
                          </a:highlight>
                        </a:rPr>
                        <a:t>BReE</a:t>
                      </a:r>
                      <a:r>
                        <a:rPr lang="en-US" sz="1000" u="none" strike="noStrike" dirty="0">
                          <a:effectLst/>
                          <a:highlight>
                            <a:srgbClr val="FFFF00"/>
                          </a:highlight>
                        </a:rPr>
                        <a:t> Python Code Complete</a:t>
                      </a:r>
                      <a:endParaRPr lang="en-US" sz="1000" b="0" i="0" u="none" strike="noStrike" dirty="0">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Planned</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 </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2</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9</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extLst>
                  <a:ext uri="{0D108BD9-81ED-4DB2-BD59-A6C34878D82A}">
                    <a16:rowId xmlns:a16="http://schemas.microsoft.com/office/drawing/2014/main" val="2492099818"/>
                  </a:ext>
                </a:extLst>
              </a:tr>
              <a:tr h="360248">
                <a:tc>
                  <a:txBody>
                    <a:bodyPr/>
                    <a:lstStyle/>
                    <a:p>
                      <a:pPr algn="ctr" rtl="0" fontAlgn="ctr">
                        <a:buNone/>
                      </a:pPr>
                      <a:r>
                        <a:rPr lang="en-US" sz="1000" u="none" strike="noStrike">
                          <a:effectLst/>
                          <a:highlight>
                            <a:srgbClr val="FFFF00"/>
                          </a:highlight>
                        </a:rPr>
                        <a:t>9</a:t>
                      </a:r>
                      <a:endParaRPr lang="en-US" sz="1000" b="0" i="0" u="none" strike="noStrike">
                        <a:solidFill>
                          <a:srgbClr val="1F1F1F"/>
                        </a:solidFill>
                        <a:effectLst/>
                        <a:highlight>
                          <a:srgbClr val="FFFF00"/>
                        </a:highligh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highlight>
                            <a:srgbClr val="FFFF00"/>
                          </a:highlight>
                        </a:rPr>
                        <a:t>2-Mar</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7, 8</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MCQ Accuracy on MMLU-Pro - data collection complete</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Planned</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 </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1</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highlight>
                            <a:srgbClr val="FFFF00"/>
                          </a:highlight>
                        </a:rPr>
                        <a:t>10</a:t>
                      </a:r>
                      <a:endParaRPr lang="en-US" sz="1000" b="0" i="0" u="none" strike="noStrike">
                        <a:solidFill>
                          <a:srgbClr val="1F1F1F"/>
                        </a:solidFill>
                        <a:effectLst/>
                        <a:highlight>
                          <a:srgbClr val="FFFF00"/>
                        </a:highlight>
                        <a:latin typeface="Arial" panose="020B0604020202020204" pitchFamily="34" charset="0"/>
                      </a:endParaRPr>
                    </a:p>
                  </a:txBody>
                  <a:tcPr marL="79180" marR="8798" marT="8798" marB="0" anchor="ctr"/>
                </a:tc>
                <a:extLst>
                  <a:ext uri="{0D108BD9-81ED-4DB2-BD59-A6C34878D82A}">
                    <a16:rowId xmlns:a16="http://schemas.microsoft.com/office/drawing/2014/main" val="911426961"/>
                  </a:ext>
                </a:extLst>
              </a:tr>
              <a:tr h="360248">
                <a:tc>
                  <a:txBody>
                    <a:bodyPr/>
                    <a:lstStyle/>
                    <a:p>
                      <a:pPr algn="ctr" rtl="0" fontAlgn="ctr">
                        <a:buNone/>
                      </a:pPr>
                      <a:r>
                        <a:rPr lang="en-US" sz="1000" u="none" strike="noStrike">
                          <a:effectLst/>
                        </a:rPr>
                        <a:t>10</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2-Mar</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7, 8, 9</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Accuracy comparison with stand alone models - data collection complete</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0</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10</a:t>
                      </a:r>
                      <a:endParaRPr lang="en-US" sz="1000" b="0"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934208940"/>
                  </a:ext>
                </a:extLst>
              </a:tr>
              <a:tr h="360248">
                <a:tc>
                  <a:txBody>
                    <a:bodyPr/>
                    <a:lstStyle/>
                    <a:p>
                      <a:pPr algn="ctr" rtl="0" fontAlgn="ctr">
                        <a:buNone/>
                      </a:pPr>
                      <a:r>
                        <a:rPr lang="en-US" sz="1000" u="none" strike="noStrike">
                          <a:effectLst/>
                        </a:rPr>
                        <a:t>11</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4-Mar</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8, 9</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Confidence score refinement and validation plan developed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2</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12</a:t>
                      </a:r>
                      <a:endParaRPr lang="en-US" sz="1000" b="0"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1765769791"/>
                  </a:ext>
                </a:extLst>
              </a:tr>
              <a:tr h="203351">
                <a:tc>
                  <a:txBody>
                    <a:bodyPr/>
                    <a:lstStyle/>
                    <a:p>
                      <a:pPr algn="ctr" rtl="0" fontAlgn="ctr">
                        <a:buNone/>
                      </a:pPr>
                      <a:r>
                        <a:rPr lang="en-US" sz="1000" u="none" strike="noStrike">
                          <a:effectLst/>
                        </a:rPr>
                        <a:t>12</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4-Mar</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8</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Qualitative logic assessment - plan complete</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0</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12</a:t>
                      </a:r>
                      <a:endParaRPr lang="en-US" sz="1000" b="0" i="0" u="none" strike="noStrike">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3931405665"/>
                  </a:ext>
                </a:extLst>
              </a:tr>
              <a:tr h="203351">
                <a:tc>
                  <a:txBody>
                    <a:bodyPr/>
                    <a:lstStyle/>
                    <a:p>
                      <a:pPr algn="ctr" rtl="0" fontAlgn="ctr">
                        <a:buNone/>
                      </a:pPr>
                      <a:r>
                        <a:rPr lang="en-US" sz="1000" u="none" strike="noStrike">
                          <a:effectLst/>
                        </a:rPr>
                        <a:t>13</a:t>
                      </a:r>
                      <a:endParaRPr lang="en-US" sz="1000" b="0" i="0" u="none" strike="noStrike">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000" u="none" strike="noStrike">
                          <a:effectLst/>
                        </a:rPr>
                        <a:t>4-Mar</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7, 8, 9</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Token count assessment - plan complete</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a:effectLst/>
                        </a:rPr>
                        <a:t>0</a:t>
                      </a:r>
                      <a:endParaRPr lang="en-US" sz="1000" b="0" i="0" u="none" strike="noStrike">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000" u="none" strike="noStrike" dirty="0">
                          <a:effectLst/>
                        </a:rPr>
                        <a:t>12</a:t>
                      </a:r>
                      <a:endParaRPr lang="en-US" sz="1000" b="0" i="0" u="none" strike="noStrike" dirty="0">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585114270"/>
                  </a:ext>
                </a:extLst>
              </a:tr>
            </a:tbl>
          </a:graphicData>
        </a:graphic>
      </p:graphicFrame>
    </p:spTree>
    <p:extLst>
      <p:ext uri="{BB962C8B-B14F-4D97-AF65-F5344CB8AC3E}">
        <p14:creationId xmlns:p14="http://schemas.microsoft.com/office/powerpoint/2010/main" val="2015614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8E97AB-BC87-7AFF-9758-90C6936E91A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5B62175A-9061-4508-B024-671E2C3C3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214827" cy="6858000"/>
            <a:chOff x="-6214" y="-1"/>
            <a:chExt cx="12214827" cy="6858000"/>
          </a:xfrm>
        </p:grpSpPr>
        <p:cxnSp>
          <p:nvCxnSpPr>
            <p:cNvPr id="18" name="Straight Connector 17">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8" name="Rectangle 47">
            <a:extLst>
              <a:ext uri="{FF2B5EF4-FFF2-40B4-BE49-F238E27FC236}">
                <a16:creationId xmlns:a16="http://schemas.microsoft.com/office/drawing/2014/main" id="{7D7F7755-C305-4B28-8A86-8EA889812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E52618B7-F742-9E04-D9BA-6C571D8AD63E}"/>
              </a:ext>
            </a:extLst>
          </p:cNvPr>
          <p:cNvSpPr>
            <a:spLocks noGrp="1"/>
          </p:cNvSpPr>
          <p:nvPr>
            <p:ph type="title"/>
          </p:nvPr>
        </p:nvSpPr>
        <p:spPr>
          <a:xfrm>
            <a:off x="304804" y="339991"/>
            <a:ext cx="11502142" cy="1499851"/>
          </a:xfrm>
        </p:spPr>
        <p:txBody>
          <a:bodyPr>
            <a:normAutofit/>
          </a:bodyPr>
          <a:lstStyle/>
          <a:p>
            <a:pPr algn="ctr"/>
            <a:r>
              <a:rPr lang="en-US">
                <a:solidFill>
                  <a:schemeClr val="tx2">
                    <a:alpha val="80000"/>
                  </a:schemeClr>
                </a:solidFill>
              </a:rPr>
              <a:t>Timeline - continued</a:t>
            </a:r>
          </a:p>
        </p:txBody>
      </p:sp>
      <p:graphicFrame>
        <p:nvGraphicFramePr>
          <p:cNvPr id="4" name="Content Placeholder 6">
            <a:extLst>
              <a:ext uri="{FF2B5EF4-FFF2-40B4-BE49-F238E27FC236}">
                <a16:creationId xmlns:a16="http://schemas.microsoft.com/office/drawing/2014/main" id="{421CE051-D3D9-9331-4E82-0D1E3082DD8F}"/>
              </a:ext>
            </a:extLst>
          </p:cNvPr>
          <p:cNvGraphicFramePr>
            <a:graphicFrameLocks/>
          </p:cNvGraphicFramePr>
          <p:nvPr>
            <p:extLst>
              <p:ext uri="{D42A27DB-BD31-4B8C-83A1-F6EECF244321}">
                <p14:modId xmlns:p14="http://schemas.microsoft.com/office/powerpoint/2010/main" val="2931572764"/>
              </p:ext>
            </p:extLst>
          </p:nvPr>
        </p:nvGraphicFramePr>
        <p:xfrm>
          <a:off x="319762" y="1723979"/>
          <a:ext cx="11472226" cy="4571458"/>
        </p:xfrm>
        <a:graphic>
          <a:graphicData uri="http://schemas.openxmlformats.org/drawingml/2006/table">
            <a:tbl>
              <a:tblPr firstRow="1" bandRow="1">
                <a:tableStyleId>{8EC20E35-A176-4012-BC5E-935CFFF8708E}</a:tableStyleId>
              </a:tblPr>
              <a:tblGrid>
                <a:gridCol w="866147">
                  <a:extLst>
                    <a:ext uri="{9D8B030D-6E8A-4147-A177-3AD203B41FA5}">
                      <a16:colId xmlns:a16="http://schemas.microsoft.com/office/drawing/2014/main" val="3556596313"/>
                    </a:ext>
                  </a:extLst>
                </a:gridCol>
                <a:gridCol w="798093">
                  <a:extLst>
                    <a:ext uri="{9D8B030D-6E8A-4147-A177-3AD203B41FA5}">
                      <a16:colId xmlns:a16="http://schemas.microsoft.com/office/drawing/2014/main" val="2493591657"/>
                    </a:ext>
                  </a:extLst>
                </a:gridCol>
                <a:gridCol w="1712742">
                  <a:extLst>
                    <a:ext uri="{9D8B030D-6E8A-4147-A177-3AD203B41FA5}">
                      <a16:colId xmlns:a16="http://schemas.microsoft.com/office/drawing/2014/main" val="2858862458"/>
                    </a:ext>
                  </a:extLst>
                </a:gridCol>
                <a:gridCol w="3116742">
                  <a:extLst>
                    <a:ext uri="{9D8B030D-6E8A-4147-A177-3AD203B41FA5}">
                      <a16:colId xmlns:a16="http://schemas.microsoft.com/office/drawing/2014/main" val="2826765540"/>
                    </a:ext>
                  </a:extLst>
                </a:gridCol>
                <a:gridCol w="1458298">
                  <a:extLst>
                    <a:ext uri="{9D8B030D-6E8A-4147-A177-3AD203B41FA5}">
                      <a16:colId xmlns:a16="http://schemas.microsoft.com/office/drawing/2014/main" val="920229182"/>
                    </a:ext>
                  </a:extLst>
                </a:gridCol>
                <a:gridCol w="1021314">
                  <a:extLst>
                    <a:ext uri="{9D8B030D-6E8A-4147-A177-3AD203B41FA5}">
                      <a16:colId xmlns:a16="http://schemas.microsoft.com/office/drawing/2014/main" val="3937484318"/>
                    </a:ext>
                  </a:extLst>
                </a:gridCol>
                <a:gridCol w="1362579">
                  <a:extLst>
                    <a:ext uri="{9D8B030D-6E8A-4147-A177-3AD203B41FA5}">
                      <a16:colId xmlns:a16="http://schemas.microsoft.com/office/drawing/2014/main" val="1661898044"/>
                    </a:ext>
                  </a:extLst>
                </a:gridCol>
                <a:gridCol w="1136311">
                  <a:extLst>
                    <a:ext uri="{9D8B030D-6E8A-4147-A177-3AD203B41FA5}">
                      <a16:colId xmlns:a16="http://schemas.microsoft.com/office/drawing/2014/main" val="1643470945"/>
                    </a:ext>
                  </a:extLst>
                </a:gridCol>
              </a:tblGrid>
              <a:tr h="705421">
                <a:tc>
                  <a:txBody>
                    <a:bodyPr/>
                    <a:lstStyle/>
                    <a:p>
                      <a:pPr algn="ctr" rtl="0" fontAlgn="ctr">
                        <a:buNone/>
                      </a:pPr>
                      <a:r>
                        <a:rPr lang="en-US" sz="1400" u="none" strike="noStrike" dirty="0">
                          <a:effectLst/>
                        </a:rPr>
                        <a:t>Item Number</a:t>
                      </a:r>
                      <a:endParaRPr lang="en-US" sz="1400" b="1" i="0" u="none" strike="noStrike" dirty="0">
                        <a:solidFill>
                          <a:srgbClr val="1F1F1F"/>
                        </a:solidFill>
                        <a:effectLst/>
                        <a:latin typeface="Arial" panose="020B0604020202020204" pitchFamily="34" charset="0"/>
                      </a:endParaRPr>
                    </a:p>
                  </a:txBody>
                  <a:tcPr marL="8798" marR="8798" marT="8798" marB="0" anchor="ctr"/>
                </a:tc>
                <a:tc>
                  <a:txBody>
                    <a:bodyPr/>
                    <a:lstStyle/>
                    <a:p>
                      <a:pPr algn="l" rtl="0" fontAlgn="ctr">
                        <a:buNone/>
                      </a:pPr>
                      <a:r>
                        <a:rPr lang="en-US" sz="1400" u="none" strike="noStrike" dirty="0">
                          <a:effectLst/>
                        </a:rPr>
                        <a:t>Date</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Incomplete Dependencies</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Milestone / Task</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Status</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Owner</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Days From Previous Milestone</a:t>
                      </a:r>
                      <a:endParaRPr lang="en-US" sz="1400" b="1" i="0" u="none" strike="noStrike" dirty="0">
                        <a:solidFill>
                          <a:srgbClr val="1F1F1F"/>
                        </a:solidFill>
                        <a:effectLst/>
                        <a:latin typeface="Arial" panose="020B0604020202020204" pitchFamily="34" charset="0"/>
                      </a:endParaRPr>
                    </a:p>
                  </a:txBody>
                  <a:tcPr marL="79180" marR="8798" marT="8798" marB="0" anchor="ctr"/>
                </a:tc>
                <a:tc>
                  <a:txBody>
                    <a:bodyPr/>
                    <a:lstStyle/>
                    <a:p>
                      <a:pPr algn="l" rtl="0" fontAlgn="ctr">
                        <a:buNone/>
                      </a:pPr>
                      <a:r>
                        <a:rPr lang="en-US" sz="1400" u="none" strike="noStrike" dirty="0">
                          <a:effectLst/>
                        </a:rPr>
                        <a:t>Days From Today</a:t>
                      </a:r>
                      <a:endParaRPr lang="en-US" sz="1400" b="1" i="0" u="none" strike="noStrike" dirty="0">
                        <a:solidFill>
                          <a:srgbClr val="1F1F1F"/>
                        </a:solidFill>
                        <a:effectLst/>
                        <a:latin typeface="Arial" panose="020B0604020202020204" pitchFamily="34" charset="0"/>
                      </a:endParaRPr>
                    </a:p>
                  </a:txBody>
                  <a:tcPr marL="79180" marR="8798" marT="8798" marB="0" anchor="ctr"/>
                </a:tc>
                <a:extLst>
                  <a:ext uri="{0D108BD9-81ED-4DB2-BD59-A6C34878D82A}">
                    <a16:rowId xmlns:a16="http://schemas.microsoft.com/office/drawing/2014/main" val="1121764902"/>
                  </a:ext>
                </a:extLst>
              </a:tr>
              <a:tr h="203351">
                <a:tc>
                  <a:txBody>
                    <a:bodyPr/>
                    <a:lstStyle/>
                    <a:p>
                      <a:pPr algn="ctr" rtl="0" fontAlgn="ctr">
                        <a:buNone/>
                      </a:pPr>
                      <a:r>
                        <a:rPr lang="en-US" sz="1000" u="none" strike="noStrike" dirty="0">
                          <a:effectLst/>
                        </a:rPr>
                        <a:t>14</a:t>
                      </a:r>
                      <a:endParaRPr lang="en-US" sz="1000" b="0" i="0" u="none" strike="noStrike" dirty="0">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a:effectLst/>
                        </a:rPr>
                        <a:t>4-Mar</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7, 8, 9</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MCQ Accuracy on MMLU-Pro - analysis complete</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0</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12</a:t>
                      </a:r>
                      <a:endParaRPr lang="en-US" sz="1000" b="0"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4237074828"/>
                  </a:ext>
                </a:extLst>
              </a:tr>
              <a:tr h="203351">
                <a:tc>
                  <a:txBody>
                    <a:bodyPr/>
                    <a:lstStyle/>
                    <a:p>
                      <a:pPr algn="ctr" rtl="0" fontAlgn="ctr">
                        <a:buNone/>
                      </a:pPr>
                      <a:r>
                        <a:rPr lang="en-US" sz="1000" u="none" strike="noStrike" dirty="0">
                          <a:effectLst/>
                        </a:rPr>
                        <a:t>15</a:t>
                      </a:r>
                      <a:endParaRPr lang="en-US" sz="1000" b="0" i="0" u="none" strike="noStrike" dirty="0">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dirty="0">
                          <a:effectLst/>
                        </a:rPr>
                        <a:t>4-Mar</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7, 8, 9</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Comparison with ICE documented metrics - analysis complete</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0</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12</a:t>
                      </a:r>
                      <a:endParaRPr lang="en-US" sz="1000" b="0"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4286294019"/>
                  </a:ext>
                </a:extLst>
              </a:tr>
              <a:tr h="360248">
                <a:tc>
                  <a:txBody>
                    <a:bodyPr/>
                    <a:lstStyle/>
                    <a:p>
                      <a:pPr algn="ctr" rtl="0" fontAlgn="ctr">
                        <a:buNone/>
                      </a:pPr>
                      <a:r>
                        <a:rPr lang="en-US" sz="1000" u="none" strike="noStrike">
                          <a:effectLst/>
                        </a:rPr>
                        <a:t>16</a:t>
                      </a:r>
                      <a:endParaRPr lang="en-US" sz="1000" b="0" i="0" u="none" strike="noStrike">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dirty="0">
                          <a:effectLst/>
                        </a:rPr>
                        <a:t>5-Mar</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6, 7, 8, 9, 10, 11, 12, 13, 14, 15</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Progress Report Development</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1</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13</a:t>
                      </a:r>
                      <a:endParaRPr lang="en-US" sz="1000" b="0" i="0" u="none" strike="noStrike">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4043684223"/>
                  </a:ext>
                </a:extLst>
              </a:tr>
              <a:tr h="203351">
                <a:tc>
                  <a:txBody>
                    <a:bodyPr/>
                    <a:lstStyle/>
                    <a:p>
                      <a:pPr algn="ctr" rtl="0" fontAlgn="ctr">
                        <a:buNone/>
                      </a:pPr>
                      <a:r>
                        <a:rPr lang="en-US" sz="1000" b="1" u="none" strike="noStrike" dirty="0">
                          <a:effectLst/>
                        </a:rPr>
                        <a:t>17</a:t>
                      </a:r>
                      <a:endParaRPr lang="en-US" sz="1000" b="1" i="0" u="none" strike="noStrike" dirty="0">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b="1" u="none" strike="noStrike" dirty="0">
                          <a:effectLst/>
                        </a:rPr>
                        <a:t>6-Mar</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a:effectLst/>
                        </a:rPr>
                        <a:t>6, 7, 8, 9, 10, 11, 12, 13, 14, 15, 16</a:t>
                      </a:r>
                      <a:endParaRPr lang="en-US" sz="1000" b="1"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a:effectLst/>
                        </a:rPr>
                        <a:t>Progress Report - 5 Pages</a:t>
                      </a:r>
                      <a:endParaRPr lang="en-US" sz="1000" b="1"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a:effectLst/>
                        </a:rPr>
                        <a:t>Planned</a:t>
                      </a:r>
                      <a:endParaRPr lang="en-US" sz="1000" b="1"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 </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1</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14</a:t>
                      </a:r>
                      <a:endParaRPr lang="en-US" sz="1000" b="1"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4079105651"/>
                  </a:ext>
                </a:extLst>
              </a:tr>
              <a:tr h="203351">
                <a:tc>
                  <a:txBody>
                    <a:bodyPr/>
                    <a:lstStyle/>
                    <a:p>
                      <a:pPr algn="ctr" rtl="0" fontAlgn="ctr">
                        <a:buNone/>
                      </a:pPr>
                      <a:r>
                        <a:rPr lang="en-US" sz="1000" u="none" strike="noStrike" dirty="0">
                          <a:effectLst/>
                          <a:highlight>
                            <a:srgbClr val="FFFF00"/>
                          </a:highlight>
                        </a:rPr>
                        <a:t>18</a:t>
                      </a:r>
                      <a:endParaRPr lang="en-US" sz="1000" b="0" i="0" u="none" strike="noStrike" dirty="0">
                        <a:solidFill>
                          <a:srgbClr val="1F1F1F"/>
                        </a:solidFill>
                        <a:effectLst/>
                        <a:highlight>
                          <a:srgbClr val="FFFF00"/>
                        </a:highlight>
                        <a:latin typeface="Arial" panose="020B0604020202020204" pitchFamily="34" charset="0"/>
                      </a:endParaRPr>
                    </a:p>
                  </a:txBody>
                  <a:tcPr marL="6940" marR="6940" marT="6940" marB="0" anchor="ctr"/>
                </a:tc>
                <a:tc>
                  <a:txBody>
                    <a:bodyPr/>
                    <a:lstStyle/>
                    <a:p>
                      <a:pPr algn="l" rtl="0" fontAlgn="ctr">
                        <a:buNone/>
                      </a:pPr>
                      <a:r>
                        <a:rPr lang="en-US" sz="1000" u="none" strike="noStrike" dirty="0">
                          <a:effectLst/>
                          <a:highlight>
                            <a:srgbClr val="FFFF00"/>
                          </a:highlight>
                        </a:rPr>
                        <a:t>9-Mar</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8, 9, 11</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Confidence score refinement and validation complete</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Planned</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 </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3</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17</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extLst>
                  <a:ext uri="{0D108BD9-81ED-4DB2-BD59-A6C34878D82A}">
                    <a16:rowId xmlns:a16="http://schemas.microsoft.com/office/drawing/2014/main" val="3670355276"/>
                  </a:ext>
                </a:extLst>
              </a:tr>
              <a:tr h="203351">
                <a:tc>
                  <a:txBody>
                    <a:bodyPr/>
                    <a:lstStyle/>
                    <a:p>
                      <a:pPr algn="ctr" rtl="0" fontAlgn="ctr">
                        <a:buNone/>
                      </a:pPr>
                      <a:r>
                        <a:rPr lang="en-US" sz="1000" u="none" strike="noStrike">
                          <a:effectLst/>
                        </a:rPr>
                        <a:t>19</a:t>
                      </a:r>
                      <a:endParaRPr lang="en-US" sz="1000" b="0" i="0" u="none" strike="noStrike">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a:effectLst/>
                        </a:rPr>
                        <a:t>11-Mar</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9, 10, 11</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Accuracy comparison with open source frameworks - data collection complete</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Planned</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2</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19</a:t>
                      </a:r>
                      <a:endParaRPr lang="en-US" sz="1000" b="0"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391415936"/>
                  </a:ext>
                </a:extLst>
              </a:tr>
              <a:tr h="203351">
                <a:tc>
                  <a:txBody>
                    <a:bodyPr/>
                    <a:lstStyle/>
                    <a:p>
                      <a:pPr algn="ctr" rtl="0" fontAlgn="ctr">
                        <a:buNone/>
                      </a:pPr>
                      <a:r>
                        <a:rPr lang="en-US" sz="1000" u="none" strike="noStrike">
                          <a:effectLst/>
                        </a:rPr>
                        <a:t>20</a:t>
                      </a:r>
                      <a:endParaRPr lang="en-US" sz="1000" b="0" i="0" u="none" strike="noStrike">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a:effectLst/>
                        </a:rPr>
                        <a:t>14-Mar</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7, 8, 9, 13</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Token count assessment - analysis complete</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Planned</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3</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22</a:t>
                      </a:r>
                      <a:endParaRPr lang="en-US" sz="1000" b="0" i="0" u="none" strike="noStrike">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464651877"/>
                  </a:ext>
                </a:extLst>
              </a:tr>
              <a:tr h="203351">
                <a:tc>
                  <a:txBody>
                    <a:bodyPr/>
                    <a:lstStyle/>
                    <a:p>
                      <a:pPr algn="ctr" rtl="0" fontAlgn="ctr">
                        <a:buNone/>
                      </a:pPr>
                      <a:r>
                        <a:rPr lang="en-US" sz="1000" u="none" strike="noStrike" dirty="0">
                          <a:effectLst/>
                          <a:highlight>
                            <a:srgbClr val="FFFF00"/>
                          </a:highlight>
                        </a:rPr>
                        <a:t>21</a:t>
                      </a:r>
                      <a:endParaRPr lang="en-US" sz="1000" b="0" i="0" u="none" strike="noStrike" dirty="0">
                        <a:solidFill>
                          <a:srgbClr val="1F1F1F"/>
                        </a:solidFill>
                        <a:effectLst/>
                        <a:highlight>
                          <a:srgbClr val="FFFF00"/>
                        </a:highlight>
                        <a:latin typeface="Arial" panose="020B0604020202020204" pitchFamily="34" charset="0"/>
                      </a:endParaRPr>
                    </a:p>
                  </a:txBody>
                  <a:tcPr marL="6940" marR="6940" marT="6940" marB="0" anchor="ctr"/>
                </a:tc>
                <a:tc>
                  <a:txBody>
                    <a:bodyPr/>
                    <a:lstStyle/>
                    <a:p>
                      <a:pPr algn="l" rtl="0" fontAlgn="ctr">
                        <a:buNone/>
                      </a:pPr>
                      <a:r>
                        <a:rPr lang="en-US" sz="1000" u="none" strike="noStrike" dirty="0">
                          <a:effectLst/>
                          <a:highlight>
                            <a:srgbClr val="FFFF00"/>
                          </a:highlight>
                        </a:rPr>
                        <a:t>14-Mar</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highlight>
                            <a:srgbClr val="FFFF00"/>
                          </a:highlight>
                        </a:rPr>
                        <a:t>7, 8, 12</a:t>
                      </a:r>
                      <a:endParaRPr lang="en-US" sz="1000" b="0" i="0" u="none" strike="noStrike">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Qualitative logic assessment - analysis complete</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Planned</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highlight>
                            <a:srgbClr val="FFFF00"/>
                          </a:highlight>
                        </a:rPr>
                        <a:t> </a:t>
                      </a:r>
                      <a:endParaRPr lang="en-US" sz="1000" b="0" i="0" u="none" strike="noStrike">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0</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highlight>
                            <a:srgbClr val="FFFF00"/>
                          </a:highlight>
                        </a:rPr>
                        <a:t>22</a:t>
                      </a:r>
                      <a:endParaRPr lang="en-US" sz="1000" b="0" i="0" u="none" strike="noStrike" dirty="0">
                        <a:solidFill>
                          <a:srgbClr val="1F1F1F"/>
                        </a:solidFill>
                        <a:effectLst/>
                        <a:highlight>
                          <a:srgbClr val="FFFF00"/>
                        </a:highlight>
                        <a:latin typeface="Arial" panose="020B0604020202020204" pitchFamily="34" charset="0"/>
                      </a:endParaRPr>
                    </a:p>
                  </a:txBody>
                  <a:tcPr marL="62461" marR="6940" marT="6940" marB="0" anchor="ctr"/>
                </a:tc>
                <a:extLst>
                  <a:ext uri="{0D108BD9-81ED-4DB2-BD59-A6C34878D82A}">
                    <a16:rowId xmlns:a16="http://schemas.microsoft.com/office/drawing/2014/main" val="2492099818"/>
                  </a:ext>
                </a:extLst>
              </a:tr>
              <a:tr h="360248">
                <a:tc>
                  <a:txBody>
                    <a:bodyPr/>
                    <a:lstStyle/>
                    <a:p>
                      <a:pPr algn="ctr" rtl="0" fontAlgn="ctr">
                        <a:buNone/>
                      </a:pPr>
                      <a:r>
                        <a:rPr lang="en-US" sz="1000" u="none" strike="noStrike">
                          <a:effectLst/>
                        </a:rPr>
                        <a:t>22</a:t>
                      </a:r>
                      <a:endParaRPr lang="en-US" sz="1000" b="0" i="0" u="none" strike="noStrike">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a:effectLst/>
                        </a:rPr>
                        <a:t>18-Mar</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6, 7, 8, 9, 10, 11, 12, 13, 14, 15, 16, 17, 18, 19, 20, 21</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Final Presentation Development Complete</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Planned</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 </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4</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26</a:t>
                      </a:r>
                      <a:endParaRPr lang="en-US" sz="1000" b="0"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911426961"/>
                  </a:ext>
                </a:extLst>
              </a:tr>
              <a:tr h="360248">
                <a:tc>
                  <a:txBody>
                    <a:bodyPr/>
                    <a:lstStyle/>
                    <a:p>
                      <a:pPr algn="ctr" rtl="0" fontAlgn="ctr">
                        <a:buNone/>
                      </a:pPr>
                      <a:r>
                        <a:rPr lang="en-US" sz="1000" b="1" u="none" strike="noStrike" dirty="0">
                          <a:effectLst/>
                        </a:rPr>
                        <a:t>23</a:t>
                      </a:r>
                      <a:endParaRPr lang="en-US" sz="1000" b="1" i="0" u="none" strike="noStrike" dirty="0">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b="1" u="none" strike="noStrike" dirty="0">
                          <a:effectLst/>
                        </a:rPr>
                        <a:t>20-Mar</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6, 7, 8, 9, 10, 11, 12, 13, 14, 15, 16, 17, 18, 19, 20, 21, 22</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Final Presentation</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Planned</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 </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2</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28</a:t>
                      </a:r>
                      <a:endParaRPr lang="en-US" sz="1000" b="1"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934208940"/>
                  </a:ext>
                </a:extLst>
              </a:tr>
              <a:tr h="360248">
                <a:tc>
                  <a:txBody>
                    <a:bodyPr/>
                    <a:lstStyle/>
                    <a:p>
                      <a:pPr algn="ctr" rtl="0" fontAlgn="ctr">
                        <a:buNone/>
                      </a:pPr>
                      <a:r>
                        <a:rPr lang="en-US" sz="1000" u="none" strike="noStrike">
                          <a:effectLst/>
                        </a:rPr>
                        <a:t>24</a:t>
                      </a:r>
                      <a:endParaRPr lang="en-US" sz="1000" b="0" i="0" u="none" strike="noStrike">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u="none" strike="noStrike">
                          <a:effectLst/>
                        </a:rPr>
                        <a:t>9-Apr</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6, 7, 8, 9, 10, 11, 12, 13, 14, 15, 16, 17, 18, 19, 20, 21</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Final Report Development Complete</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Planned</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a:effectLst/>
                        </a:rPr>
                        <a:t> </a:t>
                      </a:r>
                      <a:endParaRPr lang="en-US" sz="1000" b="0" i="0" u="none" strike="noStrike">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20</a:t>
                      </a:r>
                      <a:endParaRPr lang="en-US" sz="1000" b="0"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u="none" strike="noStrike" dirty="0">
                          <a:effectLst/>
                        </a:rPr>
                        <a:t>48</a:t>
                      </a:r>
                      <a:endParaRPr lang="en-US" sz="1000" b="0"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1765769791"/>
                  </a:ext>
                </a:extLst>
              </a:tr>
              <a:tr h="0">
                <a:tc>
                  <a:txBody>
                    <a:bodyPr/>
                    <a:lstStyle/>
                    <a:p>
                      <a:pPr algn="ctr" rtl="0" fontAlgn="ctr">
                        <a:buNone/>
                      </a:pPr>
                      <a:r>
                        <a:rPr lang="en-US" sz="1000" b="1" u="none" strike="noStrike" dirty="0">
                          <a:effectLst/>
                        </a:rPr>
                        <a:t>25</a:t>
                      </a:r>
                      <a:endParaRPr lang="en-US" sz="1000" b="1" i="0" u="none" strike="noStrike" dirty="0">
                        <a:solidFill>
                          <a:srgbClr val="1F1F1F"/>
                        </a:solidFill>
                        <a:effectLst/>
                        <a:latin typeface="Arial" panose="020B0604020202020204" pitchFamily="34" charset="0"/>
                      </a:endParaRPr>
                    </a:p>
                  </a:txBody>
                  <a:tcPr marL="6940" marR="6940" marT="6940" marB="0" anchor="ctr"/>
                </a:tc>
                <a:tc>
                  <a:txBody>
                    <a:bodyPr/>
                    <a:lstStyle/>
                    <a:p>
                      <a:pPr algn="l" rtl="0" fontAlgn="ctr">
                        <a:buNone/>
                      </a:pPr>
                      <a:r>
                        <a:rPr lang="en-US" sz="1000" b="1" u="none" strike="noStrike" dirty="0">
                          <a:effectLst/>
                        </a:rPr>
                        <a:t>10-Apr</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6, 7, 8, 9, 10, 11, 12, 13, 14, 15, 16, 17, 18, 19, 20, 21, 24</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Final Report Submission - 8 pages</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Planned</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 </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1</a:t>
                      </a:r>
                      <a:endParaRPr lang="en-US" sz="1000" b="1" i="0" u="none" strike="noStrike" dirty="0">
                        <a:solidFill>
                          <a:srgbClr val="1F1F1F"/>
                        </a:solidFill>
                        <a:effectLst/>
                        <a:latin typeface="Arial" panose="020B0604020202020204" pitchFamily="34" charset="0"/>
                      </a:endParaRPr>
                    </a:p>
                  </a:txBody>
                  <a:tcPr marL="62461" marR="6940" marT="6940" marB="0" anchor="ctr"/>
                </a:tc>
                <a:tc>
                  <a:txBody>
                    <a:bodyPr/>
                    <a:lstStyle/>
                    <a:p>
                      <a:pPr algn="l" rtl="0" fontAlgn="ctr">
                        <a:buNone/>
                      </a:pPr>
                      <a:r>
                        <a:rPr lang="en-US" sz="1000" b="1" u="none" strike="noStrike" dirty="0">
                          <a:effectLst/>
                        </a:rPr>
                        <a:t>49</a:t>
                      </a:r>
                      <a:endParaRPr lang="en-US" sz="1000" b="1" i="0" u="none" strike="noStrike" dirty="0">
                        <a:solidFill>
                          <a:srgbClr val="1F1F1F"/>
                        </a:solidFill>
                        <a:effectLst/>
                        <a:latin typeface="Arial" panose="020B0604020202020204" pitchFamily="34" charset="0"/>
                      </a:endParaRPr>
                    </a:p>
                  </a:txBody>
                  <a:tcPr marL="62461" marR="6940" marT="6940" marB="0" anchor="ctr"/>
                </a:tc>
                <a:extLst>
                  <a:ext uri="{0D108BD9-81ED-4DB2-BD59-A6C34878D82A}">
                    <a16:rowId xmlns:a16="http://schemas.microsoft.com/office/drawing/2014/main" val="3931405665"/>
                  </a:ext>
                </a:extLst>
              </a:tr>
            </a:tbl>
          </a:graphicData>
        </a:graphic>
      </p:graphicFrame>
    </p:spTree>
    <p:extLst>
      <p:ext uri="{BB962C8B-B14F-4D97-AF65-F5344CB8AC3E}">
        <p14:creationId xmlns:p14="http://schemas.microsoft.com/office/powerpoint/2010/main" val="1703012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ABDF6AF-7B6B-DE70-E26B-24BB402784BD}"/>
              </a:ext>
            </a:extLst>
          </p:cNvPr>
          <p:cNvSpPr>
            <a:spLocks noGrp="1"/>
          </p:cNvSpPr>
          <p:nvPr>
            <p:ph type="title"/>
          </p:nvPr>
        </p:nvSpPr>
        <p:spPr>
          <a:xfrm>
            <a:off x="575361" y="784864"/>
            <a:ext cx="10754527" cy="1078624"/>
          </a:xfrm>
        </p:spPr>
        <p:txBody>
          <a:bodyPr anchor="b">
            <a:normAutofit/>
          </a:bodyPr>
          <a:lstStyle/>
          <a:p>
            <a:r>
              <a:rPr lang="en-US" dirty="0">
                <a:solidFill>
                  <a:schemeClr val="tx2"/>
                </a:solidFill>
              </a:rPr>
              <a:t>Conclusion</a:t>
            </a:r>
          </a:p>
        </p:txBody>
      </p:sp>
      <p:sp>
        <p:nvSpPr>
          <p:cNvPr id="3" name="Content Placeholder 2">
            <a:extLst>
              <a:ext uri="{FF2B5EF4-FFF2-40B4-BE49-F238E27FC236}">
                <a16:creationId xmlns:a16="http://schemas.microsoft.com/office/drawing/2014/main" id="{D7483AF4-7F82-DFBB-7FEE-3028586BE176}"/>
              </a:ext>
            </a:extLst>
          </p:cNvPr>
          <p:cNvSpPr>
            <a:spLocks noGrp="1"/>
          </p:cNvSpPr>
          <p:nvPr>
            <p:ph idx="1"/>
          </p:nvPr>
        </p:nvSpPr>
        <p:spPr>
          <a:xfrm>
            <a:off x="706413" y="2107027"/>
            <a:ext cx="9745506" cy="3703492"/>
          </a:xfrm>
        </p:spPr>
        <p:txBody>
          <a:bodyPr anchor="t">
            <a:noAutofit/>
          </a:bodyPr>
          <a:lstStyle/>
          <a:p>
            <a:pPr marL="0" indent="0">
              <a:lnSpc>
                <a:spcPct val="100000"/>
              </a:lnSpc>
              <a:buClr>
                <a:schemeClr val="tx1"/>
              </a:buClr>
              <a:buNone/>
            </a:pPr>
            <a:r>
              <a:rPr lang="en-US" sz="2400" dirty="0">
                <a:solidFill>
                  <a:schemeClr val="tx2"/>
                </a:solidFill>
              </a:rPr>
              <a:t>Introducing V-</a:t>
            </a:r>
            <a:r>
              <a:rPr lang="en-US" sz="2400" dirty="0" err="1">
                <a:solidFill>
                  <a:schemeClr val="tx2"/>
                </a:solidFill>
              </a:rPr>
              <a:t>BReE</a:t>
            </a:r>
            <a:r>
              <a:rPr lang="en-US" sz="2400" dirty="0">
                <a:solidFill>
                  <a:schemeClr val="tx2"/>
                </a:solidFill>
              </a:rPr>
              <a:t> – A Variance-</a:t>
            </a:r>
            <a:r>
              <a:rPr lang="en-US" sz="2400" dirty="0" err="1">
                <a:solidFill>
                  <a:schemeClr val="tx2"/>
                </a:solidFill>
              </a:rPr>
              <a:t>thresholded</a:t>
            </a:r>
            <a:r>
              <a:rPr lang="en-US" sz="2400" dirty="0">
                <a:solidFill>
                  <a:schemeClr val="tx2"/>
                </a:solidFill>
              </a:rPr>
              <a:t> Blinded Refinement Ensemble</a:t>
            </a:r>
          </a:p>
          <a:p>
            <a:pPr lvl="1">
              <a:lnSpc>
                <a:spcPct val="100000"/>
              </a:lnSpc>
              <a:buClr>
                <a:schemeClr val="tx1"/>
              </a:buClr>
            </a:pPr>
            <a:r>
              <a:rPr lang="en-US" sz="1800" dirty="0">
                <a:solidFill>
                  <a:schemeClr val="tx2"/>
                </a:solidFill>
              </a:rPr>
              <a:t>Strong accuracy performance</a:t>
            </a:r>
          </a:p>
          <a:p>
            <a:pPr lvl="1">
              <a:lnSpc>
                <a:spcPct val="100000"/>
              </a:lnSpc>
              <a:buClr>
                <a:schemeClr val="tx1"/>
              </a:buClr>
            </a:pPr>
            <a:r>
              <a:rPr lang="en-US" sz="1800" dirty="0">
                <a:solidFill>
                  <a:schemeClr val="tx2"/>
                </a:solidFill>
              </a:rPr>
              <a:t>Reduced vulnerability to sycophancy and inter-ensemble “social” pressures</a:t>
            </a:r>
          </a:p>
          <a:p>
            <a:pPr lvl="1">
              <a:lnSpc>
                <a:spcPct val="100000"/>
              </a:lnSpc>
              <a:buClr>
                <a:schemeClr val="tx1"/>
              </a:buClr>
            </a:pPr>
            <a:r>
              <a:rPr lang="en-US" sz="1800" dirty="0">
                <a:solidFill>
                  <a:schemeClr val="tx2"/>
                </a:solidFill>
              </a:rPr>
              <a:t>Dynamic exploration of shared response space with optimized result return</a:t>
            </a:r>
          </a:p>
          <a:p>
            <a:pPr marL="0" indent="0">
              <a:lnSpc>
                <a:spcPct val="100000"/>
              </a:lnSpc>
              <a:buClr>
                <a:schemeClr val="tx1"/>
              </a:buClr>
              <a:buNone/>
            </a:pPr>
            <a:r>
              <a:rPr lang="en-US" sz="2400" dirty="0">
                <a:solidFill>
                  <a:schemeClr val="tx2"/>
                </a:solidFill>
              </a:rPr>
              <a:t>Remaining work</a:t>
            </a:r>
          </a:p>
          <a:p>
            <a:pPr lvl="1">
              <a:lnSpc>
                <a:spcPct val="100000"/>
              </a:lnSpc>
              <a:buClr>
                <a:schemeClr val="tx1"/>
              </a:buClr>
            </a:pPr>
            <a:r>
              <a:rPr lang="en-US" sz="1800" dirty="0">
                <a:solidFill>
                  <a:schemeClr val="tx2"/>
                </a:solidFill>
              </a:rPr>
              <a:t>Code finalization</a:t>
            </a:r>
          </a:p>
          <a:p>
            <a:pPr lvl="1">
              <a:lnSpc>
                <a:spcPct val="100000"/>
              </a:lnSpc>
              <a:buClr>
                <a:schemeClr val="tx1"/>
              </a:buClr>
            </a:pPr>
            <a:r>
              <a:rPr lang="en-US" sz="1800" dirty="0">
                <a:solidFill>
                  <a:schemeClr val="tx2"/>
                </a:solidFill>
              </a:rPr>
              <a:t>MMLU-PRO accuracy testing and analysis</a:t>
            </a:r>
          </a:p>
          <a:p>
            <a:pPr lvl="1">
              <a:lnSpc>
                <a:spcPct val="100000"/>
              </a:lnSpc>
              <a:buClr>
                <a:schemeClr val="tx1"/>
              </a:buClr>
            </a:pPr>
            <a:r>
              <a:rPr lang="en-US" sz="1800" dirty="0">
                <a:solidFill>
                  <a:schemeClr val="tx2"/>
                </a:solidFill>
              </a:rPr>
              <a:t>Human logic review</a:t>
            </a:r>
          </a:p>
          <a:p>
            <a:pPr lvl="1">
              <a:lnSpc>
                <a:spcPct val="100000"/>
              </a:lnSpc>
              <a:buClr>
                <a:schemeClr val="tx1"/>
              </a:buClr>
            </a:pPr>
            <a:r>
              <a:rPr lang="en-US" sz="1800" dirty="0">
                <a:solidFill>
                  <a:schemeClr val="tx2"/>
                </a:solidFill>
              </a:rPr>
              <a:t>Token count analysis</a:t>
            </a:r>
          </a:p>
          <a:p>
            <a:pPr lvl="1">
              <a:lnSpc>
                <a:spcPct val="100000"/>
              </a:lnSpc>
              <a:buClr>
                <a:schemeClr val="tx1"/>
              </a:buClr>
            </a:pPr>
            <a:r>
              <a:rPr lang="en-US" sz="1800" dirty="0">
                <a:solidFill>
                  <a:schemeClr val="tx2"/>
                </a:solidFill>
              </a:rPr>
              <a:t>Confidence metric refinement and validation</a:t>
            </a:r>
          </a:p>
        </p:txBody>
      </p:sp>
    </p:spTree>
    <p:extLst>
      <p:ext uri="{BB962C8B-B14F-4D97-AF65-F5344CB8AC3E}">
        <p14:creationId xmlns:p14="http://schemas.microsoft.com/office/powerpoint/2010/main" val="26948311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itle"/>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ppt/theme/theme2.xml><?xml version="1.0" encoding="utf-8"?>
<a:theme xmlns:a="http://schemas.openxmlformats.org/drawingml/2006/main" name="Tokyo">
  <a:themeElements>
    <a:clrScheme name="Tokyo Base">
      <a:dk1>
        <a:srgbClr val="353535"/>
      </a:dk1>
      <a:lt1>
        <a:sysClr val="window" lastClr="FFFFFF"/>
      </a:lt1>
      <a:dk2>
        <a:srgbClr val="353535"/>
      </a:dk2>
      <a:lt2>
        <a:srgbClr val="FFFFFF"/>
      </a:lt2>
      <a:accent1>
        <a:srgbClr val="F92500"/>
      </a:accent1>
      <a:accent2>
        <a:srgbClr val="353535"/>
      </a:accent2>
      <a:accent3>
        <a:srgbClr val="696969"/>
      </a:accent3>
      <a:accent4>
        <a:srgbClr val="B4B6A6"/>
      </a:accent4>
      <a:accent5>
        <a:srgbClr val="C9CABE"/>
      </a:accent5>
      <a:accent6>
        <a:srgbClr val="E4E5DF"/>
      </a:accent6>
      <a:hlink>
        <a:srgbClr val="F92500"/>
      </a:hlink>
      <a:folHlink>
        <a:srgbClr val="696969"/>
      </a:folHlink>
    </a:clrScheme>
    <a:fontScheme name="Другая 3">
      <a:majorFont>
        <a:latin typeface="Segoe UI Semilight"/>
        <a:ea typeface=""/>
        <a:cs typeface=""/>
      </a:majorFont>
      <a:minorFont>
        <a:latin typeface="Segoe U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2155</Words>
  <Application>Microsoft Office PowerPoint</Application>
  <PresentationFormat>Widescreen</PresentationFormat>
  <Paragraphs>384</Paragraphs>
  <Slides>19</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Aptos</vt:lpstr>
      <vt:lpstr>Arial</vt:lpstr>
      <vt:lpstr>Avenir Next LT Pro</vt:lpstr>
      <vt:lpstr>Cambria Math</vt:lpstr>
      <vt:lpstr>Posterama</vt:lpstr>
      <vt:lpstr>Segoe UI</vt:lpstr>
      <vt:lpstr>Segoe UI Semilight</vt:lpstr>
      <vt:lpstr>SineVTI</vt:lpstr>
      <vt:lpstr>Tokyo</vt:lpstr>
      <vt:lpstr>V-BReE  A Variance-thresholded Blinded Refinement Ensemble for Multi-Agent LLM Reasoning</vt:lpstr>
      <vt:lpstr>Motivation &amp; Problem Statement </vt:lpstr>
      <vt:lpstr>Related work</vt:lpstr>
      <vt:lpstr>Dataset: MMLU-Pro (TIGER-AI Lab)</vt:lpstr>
      <vt:lpstr>Dataset: MMLU-Pro (TIGER-AI Lab)</vt:lpstr>
      <vt:lpstr>Task: MCQ Reasoning</vt:lpstr>
      <vt:lpstr>Human Review: Logic Errors &amp; Improvements</vt:lpstr>
      <vt:lpstr>Human Review: Quantitative Methods</vt:lpstr>
      <vt:lpstr>System Architecture: Blinded Refinement</vt:lpstr>
      <vt:lpstr>System Architecture: Central Hub Variance</vt:lpstr>
      <vt:lpstr>Putting It Together: The Innovation</vt:lpstr>
      <vt:lpstr>Evaluation Plan and Expected Outcomes</vt:lpstr>
      <vt:lpstr>Target results</vt:lpstr>
      <vt:lpstr>Preliminary test results</vt:lpstr>
      <vt:lpstr>Expected Contributions</vt:lpstr>
      <vt:lpstr>Timeline</vt:lpstr>
      <vt:lpstr>Timeline</vt:lpstr>
      <vt:lpstr>Timeline - continued</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Jason Ives</cp:lastModifiedBy>
  <cp:revision>7</cp:revision>
  <dcterms:modified xsi:type="dcterms:W3CDTF">2026-02-23T17:11:23Z</dcterms:modified>
</cp:coreProperties>
</file>